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Dit is geen college maar een werksessie van een half uur. Wij stellen je een vraag die je waarschijnlijk nog niet hebt gesteld, je gaat twee keer zelf aan het werk, en aan het eind heb je een eerste schets voor je plan van aanpak. OPENINGSVRAAG om hardop te stellen: wie weet al precies in welke vorm je je eindproduct oplevert? En wie heeft daar bewust voor gekozen?  [0:00 - 1:30]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Jouw eindproduct heeft twee lezers, en die willen totaal verschillende dingen. Je examinator wil zien dat het klopt en leest alles. Je opdrachtgever heeft een volle agenda, wil weten wat hij nu moet doen, en leest wat opvalt. Dezelfde inhoud, twee heel verschillende behoeftes. En jij schrijft meestal maar voor een van de twee.  [1:30 - 4:30]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 jij. Pak je werkblad erbij. Vier minuten in je eentje, drie vragen. Denk aan je echte opdrachtgever: niet de organisatie in het algemeen maar de persoon die straks ja of nee zegt. Daarna twee minuten: vertel het je buurman in dertig seconden. In de HTML-versie start je met W een aftelklok van 6 minuten. Loop rond terwijl ze werken; de meesten blijven bij vraag 2 hangen, want ze hebben nooit gevraagd hoeveel tijd hun opdrachtgever heeft.  [4:30 - 10:30]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Misschien denk je: leuk, maar telt dit mee? Ja. Dit staat letterlijk in je beoordelingsformulier, bij criterium 6. Let op het woord doelbewust: dat betekent dat je een keuze moet kunnen uitleggen. Wil je onderscheidend scoren, dan moet je kunnen beargumenteren dat je advies echt een oplossing is. Geen extra opdracht dus.  [10:30 - 13:00]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 je een idee te geven wat dit kan opleveren. Een student die vorig jaar afstudeerde bij een ziekenhuis leverde zijn hele onderzoek visueel op: zevenentwintig liggende pagina's. En dat was geen minder onderzoek. Even veel werk, andere vorm.  [13:00 - 16:00]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nu het belangrijkste van deze sessie, want hier gaat bijna iedereen de fout in. Je hoeft het niet twee keer te doen. Een product kan allebei je lezers bedienen, op een voorwaarde: bij elke bewering moet te zien zijn waar die vandaan komt. Wat wij vaak zien is dat studenten uit voorzichtigheid iets moois maken en er dan voor de zekerheid ook nog een compleet klassiek rapport achteraan schrijven. Dat hoeft niet.  [16:00 - 18:00]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Tweede ronde, en nu wordt het concreet. Kies een vorm die past bij je antwoorden van net. Schets dan de eerste pagina op je werkblad. Het hoeft geen mooie tekening te zijn: het gaat om wat waar staat en wat je lezer als eerste ziet. En dan de belangrijkste stap: laat je schets aan iemand zien en vraag wat die denkt dat de boodschap is. Klopt dat niet, dan is je vorm nog niet af. In de HTML-versie start je met W een aftelklok van 8 minuten.  [18:00 - 26:00]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wil zijn schets laten zien? Drie mensen, dertig seconden per persoon. Zeg alleen: welke vorm, voor wie, en waarom die past. Vraag na elke pitch aan de groep: zou jij dit lezen als jij die opdrachtgever was?  [26:00 - 28:30]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neem je hiervan mee. Zet drie dingen in je plan van aanpak: welk vehikel je kiest, voor wie het is, en waarom dat past bij deze opdrachtgever. Meer vragen wij niet. En tot slot, misschien wel het belangrijkste: twijfel je of iets mag, vraag het dan gewoon. Het antwoord is vaker ja dan je denkt. Bedankt voor jullie inzet.  [28:30 - 30:00]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TextBox 4"/>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MINI-WERKCOLLEGE · 30 MINUTEN</a:t>
            </a:r>
          </a:p>
        </p:txBody>
      </p:sp>
      <p:sp>
        <p:nvSpPr>
          <p:cNvPr id="6" name="Rectangle 5"/>
          <p:cNvSpPr/>
          <p:nvPr/>
        </p:nvSpPr>
        <p:spPr>
          <a:xfrm>
            <a:off x="0" y="6272784"/>
            <a:ext cx="12191695" cy="18288"/>
          </a:xfrm>
          <a:prstGeom prst="rect">
            <a:avLst/>
          </a:prstGeom>
          <a:solidFill>
            <a:srgbClr val="45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BEDRIJFSKUNDE</a:t>
            </a:r>
          </a:p>
        </p:txBody>
      </p:sp>
      <p:sp>
        <p:nvSpPr>
          <p:cNvPr id="9" name="TextBox 8"/>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01 / 09</a:t>
            </a:r>
          </a:p>
        </p:txBody>
      </p:sp>
      <p:sp>
        <p:nvSpPr>
          <p:cNvPr id="10" name="TextBox 9"/>
          <p:cNvSpPr txBox="1"/>
          <p:nvPr/>
        </p:nvSpPr>
        <p:spPr>
          <a:xfrm>
            <a:off x="822960" y="1143000"/>
            <a:ext cx="10058400" cy="365760"/>
          </a:xfrm>
          <a:prstGeom prst="rect">
            <a:avLst/>
          </a:prstGeom>
          <a:noFill/>
        </p:spPr>
        <p:txBody>
          <a:bodyPr wrap="square" anchor="t" lIns="0" rIns="0" tIns="0" bIns="0">
            <a:spAutoFit/>
          </a:bodyPr>
          <a:lstStyle/>
          <a:p>
            <a:pPr algn="l">
              <a:lnSpc>
                <a:spcPct val="95000"/>
              </a:lnSpc>
            </a:pPr>
            <a:r>
              <a:rPr sz="1300" b="1">
                <a:solidFill>
                  <a:srgbClr val="E50056"/>
                </a:solidFill>
                <a:latin typeface="Courier New"/>
              </a:rPr>
              <a:t>AFSTUDEEROPDRACHT  ·  JE EINDPRODUCT</a:t>
            </a:r>
          </a:p>
        </p:txBody>
      </p:sp>
      <p:sp>
        <p:nvSpPr>
          <p:cNvPr id="11" name="TextBox 10"/>
          <p:cNvSpPr txBox="1"/>
          <p:nvPr/>
        </p:nvSpPr>
        <p:spPr>
          <a:xfrm>
            <a:off x="822960" y="1691640"/>
            <a:ext cx="10515600" cy="3291840"/>
          </a:xfrm>
          <a:prstGeom prst="rect">
            <a:avLst/>
          </a:prstGeom>
          <a:noFill/>
        </p:spPr>
        <p:txBody>
          <a:bodyPr wrap="square" anchor="t" lIns="0" rIns="0" tIns="0" bIns="0">
            <a:spAutoFit/>
          </a:bodyPr>
          <a:lstStyle/>
          <a:p>
            <a:pPr algn="l">
              <a:lnSpc>
                <a:spcPct val="92000"/>
              </a:lnSpc>
            </a:pPr>
            <a:r>
              <a:rPr sz="6200" b="0">
                <a:solidFill>
                  <a:srgbClr val="FFFFFF"/>
                </a:solidFill>
                <a:latin typeface="Arial Black"/>
              </a:rPr>
              <a:t>VOOR WIE</a:t>
            </a:r>
          </a:p>
          <a:p>
            <a:pPr algn="l">
              <a:lnSpc>
                <a:spcPct val="92000"/>
              </a:lnSpc>
            </a:pPr>
            <a:r>
              <a:rPr sz="6200" b="0">
                <a:solidFill>
                  <a:srgbClr val="FFFFFF"/>
                </a:solidFill>
                <a:latin typeface="Arial Black"/>
              </a:rPr>
              <a:t>MAAK JIJ</a:t>
            </a:r>
          </a:p>
          <a:p>
            <a:pPr algn="l">
              <a:lnSpc>
                <a:spcPct val="92000"/>
              </a:lnSpc>
            </a:pPr>
            <a:r>
              <a:rPr sz="6200" b="0">
                <a:solidFill>
                  <a:srgbClr val="E50056"/>
                </a:solidFill>
                <a:latin typeface="Arial Black"/>
              </a:rPr>
              <a:t>DIT?</a:t>
            </a:r>
          </a:p>
        </p:txBody>
      </p:sp>
      <p:sp>
        <p:nvSpPr>
          <p:cNvPr id="12" name="TextBox 11"/>
          <p:cNvSpPr txBox="1"/>
          <p:nvPr/>
        </p:nvSpPr>
        <p:spPr>
          <a:xfrm>
            <a:off x="822960" y="5120640"/>
            <a:ext cx="8686800" cy="822960"/>
          </a:xfrm>
          <a:prstGeom prst="rect">
            <a:avLst/>
          </a:prstGeom>
          <a:noFill/>
        </p:spPr>
        <p:txBody>
          <a:bodyPr wrap="square" anchor="t" lIns="0" rIns="0" tIns="0" bIns="0">
            <a:spAutoFit/>
          </a:bodyPr>
          <a:lstStyle/>
          <a:p>
            <a:pPr algn="l">
              <a:lnSpc>
                <a:spcPct val="95000"/>
              </a:lnSpc>
            </a:pPr>
            <a:r>
              <a:rPr sz="1900" b="0">
                <a:solidFill>
                  <a:srgbClr val="E3E3E3"/>
                </a:solidFill>
                <a:latin typeface="Arial"/>
              </a:rPr>
              <a:t>Over de vorm van je eindproduct. En waarom die keuze meetelt in je beoordeling.</a:t>
            </a:r>
          </a:p>
        </p:txBody>
      </p:sp>
      <p:sp>
        <p:nvSpPr>
          <p:cNvPr id="13" name="TextBox 12"/>
          <p:cNvSpPr txBox="1"/>
          <p:nvPr/>
        </p:nvSpPr>
        <p:spPr>
          <a:xfrm>
            <a:off x="6675120" y="5852160"/>
            <a:ext cx="5056632" cy="320040"/>
          </a:xfrm>
          <a:prstGeom prst="rect">
            <a:avLst/>
          </a:prstGeom>
          <a:noFill/>
        </p:spPr>
        <p:txBody>
          <a:bodyPr wrap="square" anchor="t" lIns="0" rIns="0" tIns="0" bIns="0">
            <a:spAutoFit/>
          </a:bodyPr>
          <a:lstStyle/>
          <a:p>
            <a:pPr algn="r">
              <a:lnSpc>
                <a:spcPct val="95000"/>
              </a:lnSpc>
            </a:pPr>
            <a:r>
              <a:rPr sz="1100" b="0">
                <a:solidFill>
                  <a:srgbClr val="919191"/>
                </a:solidFill>
                <a:latin typeface="Courier New"/>
              </a:rPr>
              <a:t>Judith  &amp;  Witek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01 · JE PUBLIEK</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TWEE LEZERS</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02 / 09</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JE EINDPRODUCT</a:t>
            </a:r>
          </a:p>
          <a:p>
            <a:pPr algn="l">
              <a:lnSpc>
                <a:spcPct val="95000"/>
              </a:lnSpc>
            </a:pPr>
            <a:r>
              <a:rPr sz="3400" b="0">
                <a:solidFill>
                  <a:srgbClr val="000000"/>
                </a:solidFill>
                <a:latin typeface="Arial Black"/>
              </a:rPr>
              <a:t>HEEFT TWEE LEZERS.</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834640"/>
            <a:ext cx="4937760" cy="201168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035808"/>
            <a:ext cx="4480560" cy="274320"/>
          </a:xfrm>
          <a:prstGeom prst="rect">
            <a:avLst/>
          </a:prstGeom>
          <a:noFill/>
        </p:spPr>
        <p:txBody>
          <a:bodyPr wrap="square" anchor="t" lIns="0" rIns="0" tIns="0" bIns="0">
            <a:spAutoFit/>
          </a:bodyPr>
          <a:lstStyle/>
          <a:p>
            <a:pPr algn="l">
              <a:lnSpc>
                <a:spcPct val="95000"/>
              </a:lnSpc>
            </a:pPr>
            <a:r>
              <a:rPr sz="1200" b="1">
                <a:solidFill>
                  <a:srgbClr val="000000"/>
                </a:solidFill>
                <a:latin typeface="Arial"/>
              </a:rPr>
              <a:t>DE EXAMINATOR</a:t>
            </a:r>
          </a:p>
        </p:txBody>
      </p:sp>
      <p:sp>
        <p:nvSpPr>
          <p:cNvPr id="17" name="Rectangle 16"/>
          <p:cNvSpPr/>
          <p:nvPr/>
        </p:nvSpPr>
        <p:spPr>
          <a:xfrm>
            <a:off x="1078992" y="3566160"/>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8" y="3456432"/>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Wil zien dat het </a:t>
            </a:r>
            <a:r>
              <a:rPr sz="1400" b="1">
                <a:solidFill>
                  <a:srgbClr val="000000"/>
                </a:solidFill>
                <a:latin typeface="Arial"/>
              </a:rPr>
              <a:t>klopt</a:t>
            </a:r>
            <a:r>
              <a:rPr sz="1400" b="0">
                <a:solidFill>
                  <a:srgbClr val="000000"/>
                </a:solidFill>
                <a:latin typeface="Arial"/>
              </a:rPr>
              <a:t>.</a:t>
            </a:r>
          </a:p>
        </p:txBody>
      </p:sp>
      <p:sp>
        <p:nvSpPr>
          <p:cNvPr id="19" name="Rectangle 18"/>
          <p:cNvSpPr/>
          <p:nvPr/>
        </p:nvSpPr>
        <p:spPr>
          <a:xfrm>
            <a:off x="1078992" y="4005072"/>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89888" y="3895344"/>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Navolgbaar, volledig, controleerbaar</a:t>
            </a:r>
            <a:r>
              <a:rPr sz="1400" b="0">
                <a:solidFill>
                  <a:srgbClr val="000000"/>
                </a:solidFill>
                <a:latin typeface="Arial"/>
              </a:rPr>
              <a:t>.</a:t>
            </a:r>
          </a:p>
        </p:txBody>
      </p:sp>
      <p:sp>
        <p:nvSpPr>
          <p:cNvPr id="21" name="Rectangle 20"/>
          <p:cNvSpPr/>
          <p:nvPr/>
        </p:nvSpPr>
        <p:spPr>
          <a:xfrm>
            <a:off x="1078992" y="4443983"/>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89888" y="4334256"/>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Leest alles</a:t>
            </a:r>
            <a:r>
              <a:rPr sz="1400" b="0">
                <a:solidFill>
                  <a:srgbClr val="000000"/>
                </a:solidFill>
                <a:latin typeface="Arial"/>
              </a:rPr>
              <a:t>.</a:t>
            </a:r>
          </a:p>
        </p:txBody>
      </p:sp>
      <p:sp>
        <p:nvSpPr>
          <p:cNvPr id="23" name="Rectangle 22"/>
          <p:cNvSpPr/>
          <p:nvPr/>
        </p:nvSpPr>
        <p:spPr>
          <a:xfrm>
            <a:off x="6446520" y="2834640"/>
            <a:ext cx="4937760" cy="201168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3035808"/>
            <a:ext cx="4480560" cy="274320"/>
          </a:xfrm>
          <a:prstGeom prst="rect">
            <a:avLst/>
          </a:prstGeom>
          <a:noFill/>
        </p:spPr>
        <p:txBody>
          <a:bodyPr wrap="square" anchor="t" lIns="0" rIns="0" tIns="0" bIns="0">
            <a:spAutoFit/>
          </a:bodyPr>
          <a:lstStyle/>
          <a:p>
            <a:pPr algn="l">
              <a:lnSpc>
                <a:spcPct val="95000"/>
              </a:lnSpc>
            </a:pPr>
            <a:r>
              <a:rPr sz="1200" b="1">
                <a:solidFill>
                  <a:srgbClr val="E50056"/>
                </a:solidFill>
                <a:latin typeface="Arial"/>
              </a:rPr>
              <a:t>JE OPDRACHTGEVER</a:t>
            </a:r>
          </a:p>
        </p:txBody>
      </p:sp>
      <p:sp>
        <p:nvSpPr>
          <p:cNvPr id="25" name="Rectangle 24"/>
          <p:cNvSpPr/>
          <p:nvPr/>
        </p:nvSpPr>
        <p:spPr>
          <a:xfrm>
            <a:off x="6702552" y="3566160"/>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3456432"/>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Wil weten </a:t>
            </a:r>
            <a:r>
              <a:rPr sz="1400" b="1">
                <a:solidFill>
                  <a:srgbClr val="000000"/>
                </a:solidFill>
                <a:latin typeface="Arial"/>
              </a:rPr>
              <a:t>wat hij nu moet doen</a:t>
            </a:r>
            <a:r>
              <a:rPr sz="1400" b="0">
                <a:solidFill>
                  <a:srgbClr val="000000"/>
                </a:solidFill>
                <a:latin typeface="Arial"/>
              </a:rPr>
              <a:t>.</a:t>
            </a:r>
          </a:p>
        </p:txBody>
      </p:sp>
      <p:sp>
        <p:nvSpPr>
          <p:cNvPr id="27" name="Rectangle 26"/>
          <p:cNvSpPr/>
          <p:nvPr/>
        </p:nvSpPr>
        <p:spPr>
          <a:xfrm>
            <a:off x="6702552" y="4005072"/>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3448" y="3895344"/>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Heeft een volle agenda</a:t>
            </a:r>
            <a:r>
              <a:rPr sz="1400" b="0">
                <a:solidFill>
                  <a:srgbClr val="000000"/>
                </a:solidFill>
                <a:latin typeface="Arial"/>
              </a:rPr>
              <a:t>.</a:t>
            </a:r>
          </a:p>
        </p:txBody>
      </p:sp>
      <p:sp>
        <p:nvSpPr>
          <p:cNvPr id="29" name="Rectangle 28"/>
          <p:cNvSpPr/>
          <p:nvPr/>
        </p:nvSpPr>
        <p:spPr>
          <a:xfrm>
            <a:off x="6702552" y="4443983"/>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3448" y="4334256"/>
            <a:ext cx="420624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Leest wat opvalt</a:t>
            </a:r>
            <a:r>
              <a:rPr sz="1400" b="0">
                <a:solidFill>
                  <a:srgbClr val="000000"/>
                </a:solidFill>
                <a:latin typeface="Arial"/>
              </a:rPr>
              <a:t>.</a:t>
            </a:r>
          </a:p>
        </p:txBody>
      </p:sp>
      <p:sp>
        <p:nvSpPr>
          <p:cNvPr id="31" name="TextBox 30"/>
          <p:cNvSpPr txBox="1"/>
          <p:nvPr/>
        </p:nvSpPr>
        <p:spPr>
          <a:xfrm>
            <a:off x="822960" y="5166360"/>
            <a:ext cx="10515600" cy="548640"/>
          </a:xfrm>
          <a:prstGeom prst="rect">
            <a:avLst/>
          </a:prstGeom>
          <a:noFill/>
        </p:spPr>
        <p:txBody>
          <a:bodyPr wrap="square" anchor="t" lIns="0" rIns="0" tIns="0" bIns="0">
            <a:spAutoFit/>
          </a:bodyPr>
          <a:lstStyle/>
          <a:p>
            <a:pPr algn="l">
              <a:lnSpc>
                <a:spcPct val="95000"/>
              </a:lnSpc>
            </a:pPr>
            <a:r>
              <a:rPr sz="2000" b="1">
                <a:solidFill>
                  <a:srgbClr val="000000"/>
                </a:solidFill>
                <a:latin typeface="Arial"/>
              </a:rPr>
              <a:t>Dezelfde inhoud. Twee heel verschillende behoeftes.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1</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PAK JE WERKBLAD</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6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03 / 09</a:t>
            </a:r>
          </a:p>
        </p:txBody>
      </p:sp>
      <p:sp>
        <p:nvSpPr>
          <p:cNvPr id="13" name="Rectangle 12"/>
          <p:cNvSpPr/>
          <p:nvPr/>
        </p:nvSpPr>
        <p:spPr>
          <a:xfrm>
            <a:off x="822960" y="1143000"/>
            <a:ext cx="282366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225296"/>
            <a:ext cx="2823667"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4 MIN ALLEEN · 2 MIN IN TWEETALLEN</a:t>
            </a:r>
          </a:p>
        </p:txBody>
      </p:sp>
      <p:sp>
        <p:nvSpPr>
          <p:cNvPr id="15" name="TextBox 14"/>
          <p:cNvSpPr txBox="1"/>
          <p:nvPr/>
        </p:nvSpPr>
        <p:spPr>
          <a:xfrm>
            <a:off x="822960" y="1691640"/>
            <a:ext cx="10515600" cy="1280160"/>
          </a:xfrm>
          <a:prstGeom prst="rect">
            <a:avLst/>
          </a:prstGeom>
          <a:noFill/>
        </p:spPr>
        <p:txBody>
          <a:bodyPr wrap="square" anchor="t" lIns="0" rIns="0" tIns="0" bIns="0">
            <a:spAutoFit/>
          </a:bodyPr>
          <a:lstStyle/>
          <a:p>
            <a:pPr algn="l">
              <a:lnSpc>
                <a:spcPct val="95000"/>
              </a:lnSpc>
            </a:pPr>
            <a:r>
              <a:rPr sz="3800" b="0">
                <a:solidFill>
                  <a:srgbClr val="FFFFFF"/>
                </a:solidFill>
                <a:latin typeface="Arial Black"/>
              </a:rPr>
              <a:t>WIE LEEST</a:t>
            </a:r>
          </a:p>
          <a:p>
            <a:pPr algn="l">
              <a:lnSpc>
                <a:spcPct val="95000"/>
              </a:lnSpc>
            </a:pPr>
            <a:r>
              <a:rPr sz="3800" b="0">
                <a:solidFill>
                  <a:srgbClr val="FFFFFF"/>
                </a:solidFill>
                <a:latin typeface="Arial Black"/>
              </a:rPr>
              <a:t>JOUW ADVIES?</a:t>
            </a:r>
          </a:p>
        </p:txBody>
      </p:sp>
      <p:sp>
        <p:nvSpPr>
          <p:cNvPr id="16" name="Rectangle 15"/>
          <p:cNvSpPr/>
          <p:nvPr/>
        </p:nvSpPr>
        <p:spPr>
          <a:xfrm>
            <a:off x="822960" y="329184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392424"/>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18" name="TextBox 17"/>
          <p:cNvSpPr txBox="1"/>
          <p:nvPr/>
        </p:nvSpPr>
        <p:spPr>
          <a:xfrm>
            <a:off x="1389888" y="3328416"/>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Wie neemt bij jouw opdrachtgever </a:t>
            </a:r>
            <a:r>
              <a:rPr sz="1500" b="1">
                <a:solidFill>
                  <a:srgbClr val="FFFFFF"/>
                </a:solidFill>
                <a:latin typeface="Arial"/>
              </a:rPr>
              <a:t>het besluit</a:t>
            </a:r>
            <a:r>
              <a:rPr sz="1500" b="0">
                <a:solidFill>
                  <a:srgbClr val="FFFFFF"/>
                </a:solidFill>
                <a:latin typeface="Arial"/>
              </a:rPr>
              <a:t>?</a:t>
            </a:r>
          </a:p>
        </p:txBody>
      </p:sp>
      <p:sp>
        <p:nvSpPr>
          <p:cNvPr id="19" name="Rectangle 18"/>
          <p:cNvSpPr/>
          <p:nvPr/>
        </p:nvSpPr>
        <p:spPr>
          <a:xfrm>
            <a:off x="822960" y="3858768"/>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59352"/>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21" name="TextBox 20"/>
          <p:cNvSpPr txBox="1"/>
          <p:nvPr/>
        </p:nvSpPr>
        <p:spPr>
          <a:xfrm>
            <a:off x="1389888" y="3895344"/>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Hoeveel tijd heeft die persoon </a:t>
            </a:r>
            <a:r>
              <a:rPr sz="1500" b="1">
                <a:solidFill>
                  <a:srgbClr val="FFFFFF"/>
                </a:solidFill>
                <a:latin typeface="Arial"/>
              </a:rPr>
              <a:t>echt</a:t>
            </a:r>
            <a:r>
              <a:rPr sz="1500" b="0">
                <a:solidFill>
                  <a:srgbClr val="FFFFFF"/>
                </a:solidFill>
                <a:latin typeface="Arial"/>
              </a:rPr>
              <a:t> voor jouw product?</a:t>
            </a:r>
          </a:p>
        </p:txBody>
      </p:sp>
      <p:sp>
        <p:nvSpPr>
          <p:cNvPr id="22" name="Rectangle 21"/>
          <p:cNvSpPr/>
          <p:nvPr/>
        </p:nvSpPr>
        <p:spPr>
          <a:xfrm>
            <a:off x="822960" y="4425696"/>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26280"/>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24" name="TextBox 23"/>
          <p:cNvSpPr txBox="1"/>
          <p:nvPr/>
        </p:nvSpPr>
        <p:spPr>
          <a:xfrm>
            <a:off x="1389888" y="4462272"/>
            <a:ext cx="10058400" cy="411480"/>
          </a:xfrm>
          <a:prstGeom prst="rect">
            <a:avLst/>
          </a:prstGeom>
          <a:noFill/>
        </p:spPr>
        <p:txBody>
          <a:bodyPr wrap="square" anchor="t" lIns="0" rIns="0" tIns="0" bIns="0">
            <a:spAutoFit/>
          </a:bodyPr>
          <a:lstStyle/>
          <a:p>
            <a:pPr algn="l">
              <a:lnSpc>
                <a:spcPct val="110000"/>
              </a:lnSpc>
            </a:pPr>
            <a:r>
              <a:rPr sz="1500" b="0">
                <a:solidFill>
                  <a:srgbClr val="FFFFFF"/>
                </a:solidFill>
                <a:latin typeface="Arial"/>
              </a:rPr>
              <a:t>Waar bekijkt hij het? Scherm, papier, of </a:t>
            </a:r>
            <a:r>
              <a:rPr sz="1500" b="1">
                <a:solidFill>
                  <a:srgbClr val="FFFFFF"/>
                </a:solidFill>
                <a:latin typeface="Arial"/>
              </a:rPr>
              <a:t>midden in een vergadering</a:t>
            </a:r>
            <a:r>
              <a:rPr sz="1500" b="0">
                <a:solidFill>
                  <a:srgbClr val="FFFFFF"/>
                </a:solidFill>
                <a:latin typeface="Arial"/>
              </a:rPr>
              <a:t>?</a:t>
            </a:r>
          </a:p>
        </p:txBody>
      </p:sp>
      <p:sp>
        <p:nvSpPr>
          <p:cNvPr id="25" name="TextBox 24"/>
          <p:cNvSpPr txBox="1"/>
          <p:nvPr/>
        </p:nvSpPr>
        <p:spPr>
          <a:xfrm>
            <a:off x="822960" y="5257800"/>
            <a:ext cx="10515600" cy="457200"/>
          </a:xfrm>
          <a:prstGeom prst="rect">
            <a:avLst/>
          </a:prstGeom>
          <a:noFill/>
        </p:spPr>
        <p:txBody>
          <a:bodyPr wrap="square" anchor="t" lIns="0" rIns="0" tIns="0" bIns="0">
            <a:spAutoFit/>
          </a:bodyPr>
          <a:lstStyle/>
          <a:p>
            <a:pPr algn="l">
              <a:lnSpc>
                <a:spcPct val="95000"/>
              </a:lnSpc>
            </a:pPr>
            <a:r>
              <a:rPr sz="1400" b="0">
                <a:solidFill>
                  <a:srgbClr val="FFFFFF"/>
                </a:solidFill>
                <a:latin typeface="Arial"/>
              </a:rPr>
              <a:t>Daarna: vertel het je buurman in 30 seconden.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02 · TELT DIT MEE?</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CRITERIUM 6</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04 / 09</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DIT IS GEEN</a:t>
            </a:r>
          </a:p>
          <a:p>
            <a:pPr algn="l">
              <a:lnSpc>
                <a:spcPct val="95000"/>
              </a:lnSpc>
            </a:pPr>
            <a:r>
              <a:rPr sz="3400" b="0">
                <a:solidFill>
                  <a:srgbClr val="000000"/>
                </a:solidFill>
                <a:latin typeface="Arial Black"/>
              </a:rPr>
              <a:t>EXTRA OPDRACHT.</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880360"/>
            <a:ext cx="5852160" cy="566928"/>
          </a:xfrm>
          <a:prstGeom prst="rect">
            <a:avLst/>
          </a:prstGeom>
          <a:solidFill>
            <a:srgbClr val="F8E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834640"/>
            <a:ext cx="5943600" cy="1280160"/>
          </a:xfrm>
          <a:prstGeom prst="rect">
            <a:avLst/>
          </a:prstGeom>
          <a:noFill/>
        </p:spPr>
        <p:txBody>
          <a:bodyPr wrap="square" anchor="t" lIns="0" rIns="0" tIns="0" bIns="0">
            <a:spAutoFit/>
          </a:bodyPr>
          <a:lstStyle/>
          <a:p>
            <a:pPr algn="l">
              <a:lnSpc>
                <a:spcPct val="105000"/>
              </a:lnSpc>
            </a:pPr>
            <a:r>
              <a:rPr sz="2000" b="1">
                <a:solidFill>
                  <a:srgbClr val="000000"/>
                </a:solidFill>
                <a:latin typeface="Arial"/>
              </a:rPr>
              <a:t>“Zet communicatie doelbewust in en afgestemd op de doelgroep.”</a:t>
            </a:r>
          </a:p>
        </p:txBody>
      </p:sp>
      <p:sp>
        <p:nvSpPr>
          <p:cNvPr id="17" name="TextBox 16"/>
          <p:cNvSpPr txBox="1"/>
          <p:nvPr/>
        </p:nvSpPr>
        <p:spPr>
          <a:xfrm>
            <a:off x="822960" y="4069080"/>
            <a:ext cx="5852160" cy="457200"/>
          </a:xfrm>
          <a:prstGeom prst="rect">
            <a:avLst/>
          </a:prstGeom>
          <a:noFill/>
        </p:spPr>
        <p:txBody>
          <a:bodyPr wrap="square" anchor="t" lIns="0" rIns="0" tIns="0" bIns="0">
            <a:spAutoFit/>
          </a:bodyPr>
          <a:lstStyle/>
          <a:p>
            <a:pPr algn="l">
              <a:lnSpc>
                <a:spcPct val="95000"/>
              </a:lnSpc>
            </a:pPr>
            <a:r>
              <a:rPr sz="1300" b="0">
                <a:solidFill>
                  <a:srgbClr val="757575"/>
                </a:solidFill>
                <a:latin typeface="Arial"/>
              </a:rPr>
              <a:t>Staat in jouw beoordelingsformulier, criterium 6.</a:t>
            </a:r>
          </a:p>
        </p:txBody>
      </p:sp>
      <p:sp>
        <p:nvSpPr>
          <p:cNvPr id="18" name="Rectangle 17"/>
          <p:cNvSpPr/>
          <p:nvPr/>
        </p:nvSpPr>
        <p:spPr>
          <a:xfrm>
            <a:off x="7086600" y="2880360"/>
            <a:ext cx="4251960" cy="173736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3081528"/>
            <a:ext cx="3931920" cy="274320"/>
          </a:xfrm>
          <a:prstGeom prst="rect">
            <a:avLst/>
          </a:prstGeom>
          <a:noFill/>
        </p:spPr>
        <p:txBody>
          <a:bodyPr wrap="square" anchor="t" lIns="0" rIns="0" tIns="0" bIns="0">
            <a:spAutoFit/>
          </a:bodyPr>
          <a:lstStyle/>
          <a:p>
            <a:pPr algn="l">
              <a:lnSpc>
                <a:spcPct val="95000"/>
              </a:lnSpc>
            </a:pPr>
            <a:r>
              <a:rPr sz="1200" b="1">
                <a:solidFill>
                  <a:srgbClr val="E50056"/>
                </a:solidFill>
                <a:latin typeface="Arial"/>
              </a:rPr>
              <a:t>WIL JE HOGER SCOREN?</a:t>
            </a:r>
          </a:p>
        </p:txBody>
      </p:sp>
      <p:sp>
        <p:nvSpPr>
          <p:cNvPr id="20" name="TextBox 19"/>
          <p:cNvSpPr txBox="1"/>
          <p:nvPr/>
        </p:nvSpPr>
        <p:spPr>
          <a:xfrm>
            <a:off x="7315200" y="3493008"/>
            <a:ext cx="3794760" cy="1005840"/>
          </a:xfrm>
          <a:prstGeom prst="rect">
            <a:avLst/>
          </a:prstGeom>
          <a:noFill/>
        </p:spPr>
        <p:txBody>
          <a:bodyPr wrap="square" anchor="t" lIns="0" rIns="0" tIns="0" bIns="0">
            <a:spAutoFit/>
          </a:bodyPr>
          <a:lstStyle/>
          <a:p>
            <a:pPr algn="l">
              <a:lnSpc>
                <a:spcPct val="115000"/>
              </a:lnSpc>
            </a:pPr>
            <a:r>
              <a:rPr sz="1300" b="0">
                <a:solidFill>
                  <a:srgbClr val="000000"/>
                </a:solidFill>
                <a:latin typeface="Arial"/>
              </a:rPr>
              <a:t>Dan laat je zien dat je advies </a:t>
            </a:r>
            <a:r>
              <a:rPr sz="1300" b="1">
                <a:solidFill>
                  <a:srgbClr val="000000"/>
                </a:solidFill>
                <a:latin typeface="Arial"/>
              </a:rPr>
              <a:t>echt een oplossing</a:t>
            </a:r>
            <a:r>
              <a:rPr sz="1300" b="0">
                <a:solidFill>
                  <a:srgbClr val="000000"/>
                </a:solidFill>
                <a:latin typeface="Arial"/>
              </a:rPr>
              <a:t> is, en open je een nieuw perspectief voor de organisatie.</a:t>
            </a:r>
          </a:p>
        </p:txBody>
      </p:sp>
      <p:sp>
        <p:nvSpPr>
          <p:cNvPr id="21" name="TextBox 20"/>
          <p:cNvSpPr txBox="1"/>
          <p:nvPr/>
        </p:nvSpPr>
        <p:spPr>
          <a:xfrm>
            <a:off x="822960" y="5029200"/>
            <a:ext cx="10515600" cy="548640"/>
          </a:xfrm>
          <a:prstGeom prst="rect">
            <a:avLst/>
          </a:prstGeom>
          <a:noFill/>
        </p:spPr>
        <p:txBody>
          <a:bodyPr wrap="square" anchor="t" lIns="0" rIns="0" tIns="0" bIns="0">
            <a:spAutoFit/>
          </a:bodyPr>
          <a:lstStyle/>
          <a:p>
            <a:pPr algn="l">
              <a:lnSpc>
                <a:spcPct val="95000"/>
              </a:lnSpc>
            </a:pPr>
            <a:r>
              <a:rPr sz="1900" b="1">
                <a:solidFill>
                  <a:srgbClr val="000000"/>
                </a:solidFill>
                <a:latin typeface="Arial"/>
              </a:rPr>
              <a:t>Je wordt hier al op beoordeeld. De vraag is of je het </a:t>
            </a:r>
            <a:r>
              <a:rPr sz="1900" b="1">
                <a:solidFill>
                  <a:srgbClr val="E50056"/>
                </a:solidFill>
                <a:latin typeface="Arial"/>
              </a:rPr>
              <a:t>bewust</a:t>
            </a:r>
            <a:r>
              <a:rPr sz="1900" b="1">
                <a:solidFill>
                  <a:srgbClr val="000000"/>
                </a:solidFill>
                <a:latin typeface="Arial"/>
              </a:rPr>
              <a:t> doet.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03 · INSPIRATIE</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VORIG JAAR</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05 / 09</a:t>
            </a:r>
          </a:p>
        </p:txBody>
      </p:sp>
      <p:sp>
        <p:nvSpPr>
          <p:cNvPr id="13" name="TextBox 12"/>
          <p:cNvSpPr txBox="1"/>
          <p:nvPr/>
        </p:nvSpPr>
        <p:spPr>
          <a:xfrm>
            <a:off x="822960" y="1051560"/>
            <a:ext cx="10515600" cy="73152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IEMAND GING JE VOOR.</a:t>
            </a:r>
          </a:p>
        </p:txBody>
      </p:sp>
      <p:sp>
        <p:nvSpPr>
          <p:cNvPr id="14" name="TextBox 13"/>
          <p:cNvSpPr txBox="1"/>
          <p:nvPr/>
        </p:nvSpPr>
        <p:spPr>
          <a:xfrm>
            <a:off x="822960" y="1828800"/>
            <a:ext cx="10515600" cy="365760"/>
          </a:xfrm>
          <a:prstGeom prst="rect">
            <a:avLst/>
          </a:prstGeom>
          <a:noFill/>
        </p:spPr>
        <p:txBody>
          <a:bodyPr wrap="square" anchor="t" lIns="0" rIns="0" tIns="0" bIns="0">
            <a:spAutoFit/>
          </a:bodyPr>
          <a:lstStyle/>
          <a:p>
            <a:pPr algn="l">
              <a:lnSpc>
                <a:spcPct val="95000"/>
              </a:lnSpc>
            </a:pPr>
            <a:r>
              <a:rPr sz="1400" b="0">
                <a:solidFill>
                  <a:srgbClr val="454545"/>
                </a:solidFill>
                <a:latin typeface="Arial"/>
              </a:rPr>
              <a:t>Hij leverde zijn hele onderzoek visueel op. Drie van zijn pagina's:</a:t>
            </a:r>
          </a:p>
        </p:txBody>
      </p:sp>
      <p:pic>
        <p:nvPicPr>
          <p:cNvPr id="15" name="Picture 14" descr="viz_inleiding.jpg"/>
          <p:cNvPicPr>
            <a:picLocks noChangeAspect="1"/>
          </p:cNvPicPr>
          <p:nvPr/>
        </p:nvPicPr>
        <p:blipFill>
          <a:blip r:embed="rId3"/>
          <a:stretch>
            <a:fillRect/>
          </a:stretch>
        </p:blipFill>
        <p:spPr>
          <a:xfrm>
            <a:off x="822960" y="2359152"/>
            <a:ext cx="3401568" cy="2407263"/>
          </a:xfrm>
          <a:prstGeom prst="rect">
            <a:avLst/>
          </a:prstGeom>
        </p:spPr>
      </p:pic>
      <p:sp>
        <p:nvSpPr>
          <p:cNvPr id="16" name="Rectangle 15"/>
          <p:cNvSpPr/>
          <p:nvPr/>
        </p:nvSpPr>
        <p:spPr>
          <a:xfrm>
            <a:off x="822960" y="2359152"/>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919472"/>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INLEIDING</a:t>
            </a:r>
          </a:p>
        </p:txBody>
      </p:sp>
      <p:sp>
        <p:nvSpPr>
          <p:cNvPr id="18" name="TextBox 17"/>
          <p:cNvSpPr txBox="1"/>
          <p:nvPr/>
        </p:nvSpPr>
        <p:spPr>
          <a:xfrm>
            <a:off x="822960" y="5248656"/>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Zijn lezer wist </a:t>
            </a:r>
            <a:r>
              <a:rPr sz="1200" b="1">
                <a:solidFill>
                  <a:srgbClr val="000000"/>
                </a:solidFill>
                <a:latin typeface="Arial"/>
              </a:rPr>
              <a:t>binnen tien seconden</a:t>
            </a:r>
            <a:r>
              <a:rPr sz="1200" b="0">
                <a:solidFill>
                  <a:srgbClr val="000000"/>
                </a:solidFill>
                <a:latin typeface="Arial"/>
              </a:rPr>
              <a:t> waar het over ging.</a:t>
            </a:r>
          </a:p>
        </p:txBody>
      </p:sp>
      <p:pic>
        <p:nvPicPr>
          <p:cNvPr id="19" name="Picture 18" descr="viz_resultaten.jpg"/>
          <p:cNvPicPr>
            <a:picLocks noChangeAspect="1"/>
          </p:cNvPicPr>
          <p:nvPr/>
        </p:nvPicPr>
        <p:blipFill>
          <a:blip r:embed="rId4"/>
          <a:stretch>
            <a:fillRect/>
          </a:stretch>
        </p:blipFill>
        <p:spPr>
          <a:xfrm>
            <a:off x="4352544" y="2359152"/>
            <a:ext cx="3401568" cy="2407263"/>
          </a:xfrm>
          <a:prstGeom prst="rect">
            <a:avLst/>
          </a:prstGeom>
        </p:spPr>
      </p:pic>
      <p:sp>
        <p:nvSpPr>
          <p:cNvPr id="20" name="Rectangle 19"/>
          <p:cNvSpPr/>
          <p:nvPr/>
        </p:nvSpPr>
        <p:spPr>
          <a:xfrm>
            <a:off x="4352544" y="2359152"/>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2544" y="4919472"/>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RESULTATEN</a:t>
            </a:r>
          </a:p>
        </p:txBody>
      </p:sp>
      <p:sp>
        <p:nvSpPr>
          <p:cNvPr id="22" name="TextBox 21"/>
          <p:cNvSpPr txBox="1"/>
          <p:nvPr/>
        </p:nvSpPr>
        <p:spPr>
          <a:xfrm>
            <a:off x="4352544" y="5248656"/>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Alles naast elkaar met scores. </a:t>
            </a:r>
            <a:r>
              <a:rPr sz="1200" b="1">
                <a:solidFill>
                  <a:srgbClr val="000000"/>
                </a:solidFill>
                <a:latin typeface="Arial"/>
              </a:rPr>
              <a:t>Vergelijken kostte geen alinea's</a:t>
            </a:r>
            <a:r>
              <a:rPr sz="1200" b="0">
                <a:solidFill>
                  <a:srgbClr val="000000"/>
                </a:solidFill>
                <a:latin typeface="Arial"/>
              </a:rPr>
              <a:t>.</a:t>
            </a:r>
          </a:p>
        </p:txBody>
      </p:sp>
      <p:pic>
        <p:nvPicPr>
          <p:cNvPr id="23" name="Picture 22" descr="viz_advies.jpg"/>
          <p:cNvPicPr>
            <a:picLocks noChangeAspect="1"/>
          </p:cNvPicPr>
          <p:nvPr/>
        </p:nvPicPr>
        <p:blipFill>
          <a:blip r:embed="rId5"/>
          <a:stretch>
            <a:fillRect/>
          </a:stretch>
        </p:blipFill>
        <p:spPr>
          <a:xfrm>
            <a:off x="7882127" y="2359152"/>
            <a:ext cx="3401568" cy="2407263"/>
          </a:xfrm>
          <a:prstGeom prst="rect">
            <a:avLst/>
          </a:prstGeom>
        </p:spPr>
      </p:pic>
      <p:sp>
        <p:nvSpPr>
          <p:cNvPr id="24" name="Rectangle 23"/>
          <p:cNvSpPr/>
          <p:nvPr/>
        </p:nvSpPr>
        <p:spPr>
          <a:xfrm>
            <a:off x="7882127" y="2359152"/>
            <a:ext cx="3401568" cy="2407263"/>
          </a:xfrm>
          <a:prstGeom prst="rect">
            <a:avLst/>
          </a:prstGeom>
          <a:no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82127" y="4919472"/>
            <a:ext cx="3401568" cy="274320"/>
          </a:xfrm>
          <a:prstGeom prst="rect">
            <a:avLst/>
          </a:prstGeom>
          <a:noFill/>
        </p:spPr>
        <p:txBody>
          <a:bodyPr wrap="square" anchor="t" lIns="0" rIns="0" tIns="0" bIns="0">
            <a:spAutoFit/>
          </a:bodyPr>
          <a:lstStyle/>
          <a:p>
            <a:pPr algn="l">
              <a:lnSpc>
                <a:spcPct val="95000"/>
              </a:lnSpc>
            </a:pPr>
            <a:r>
              <a:rPr sz="1100" b="1">
                <a:solidFill>
                  <a:srgbClr val="E50056"/>
                </a:solidFill>
                <a:latin typeface="Courier New"/>
              </a:rPr>
              <a:t>ADVIES</a:t>
            </a:r>
          </a:p>
        </p:txBody>
      </p:sp>
      <p:sp>
        <p:nvSpPr>
          <p:cNvPr id="26" name="TextBox 25"/>
          <p:cNvSpPr txBox="1"/>
          <p:nvPr/>
        </p:nvSpPr>
        <p:spPr>
          <a:xfrm>
            <a:off x="7882127" y="5248656"/>
            <a:ext cx="3401568" cy="914400"/>
          </a:xfrm>
          <a:prstGeom prst="rect">
            <a:avLst/>
          </a:prstGeom>
          <a:noFill/>
        </p:spPr>
        <p:txBody>
          <a:bodyPr wrap="square" anchor="t" lIns="0" rIns="0" tIns="0" bIns="0">
            <a:spAutoFit/>
          </a:bodyPr>
          <a:lstStyle/>
          <a:p>
            <a:pPr algn="l">
              <a:lnSpc>
                <a:spcPct val="115000"/>
              </a:lnSpc>
            </a:pPr>
            <a:r>
              <a:rPr sz="1200" b="0">
                <a:solidFill>
                  <a:srgbClr val="000000"/>
                </a:solidFill>
                <a:latin typeface="Arial"/>
              </a:rPr>
              <a:t>Scenario's en kosten op één plaat. </a:t>
            </a:r>
            <a:r>
              <a:rPr sz="1200" b="1">
                <a:solidFill>
                  <a:srgbClr val="000000"/>
                </a:solidFill>
                <a:latin typeface="Arial"/>
              </a:rPr>
              <a:t>Meteen te bespreken</a:t>
            </a:r>
            <a:r>
              <a:rPr sz="1200" b="0">
                <a:solidFill>
                  <a:srgbClr val="000000"/>
                </a:solidFill>
                <a:latin typeface="Aria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713232"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713232"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KERN</a:t>
            </a:r>
          </a:p>
        </p:txBody>
      </p:sp>
      <p:sp>
        <p:nvSpPr>
          <p:cNvPr id="7" name="TextBox 6"/>
          <p:cNvSpPr txBox="1"/>
          <p:nvPr/>
        </p:nvSpPr>
        <p:spPr>
          <a:xfrm>
            <a:off x="2715768"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04 · GERUSTSTELLING</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BELANGRIJK</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06 / 09</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JE HOEFT HET NIET</a:t>
            </a:r>
          </a:p>
          <a:p>
            <a:pPr algn="l">
              <a:lnSpc>
                <a:spcPct val="95000"/>
              </a:lnSpc>
            </a:pPr>
            <a:r>
              <a:rPr sz="3400" b="0">
                <a:solidFill>
                  <a:srgbClr val="000000"/>
                </a:solidFill>
                <a:latin typeface="Arial Black"/>
              </a:rPr>
              <a:t>TWEE KEER TE DOEN.</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6324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926080"/>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Eén product kan </a:t>
            </a:r>
            <a:r>
              <a:rPr sz="1600" b="1">
                <a:solidFill>
                  <a:srgbClr val="000000"/>
                </a:solidFill>
                <a:latin typeface="Arial"/>
              </a:rPr>
              <a:t>allebei je lezers</a:t>
            </a:r>
            <a:r>
              <a:rPr sz="1600" b="0">
                <a:solidFill>
                  <a:srgbClr val="000000"/>
                </a:solidFill>
                <a:latin typeface="Arial"/>
              </a:rPr>
              <a:t> bedienen.</a:t>
            </a:r>
          </a:p>
        </p:txBody>
      </p:sp>
      <p:sp>
        <p:nvSpPr>
          <p:cNvPr id="17" name="Rectangle 16"/>
          <p:cNvSpPr/>
          <p:nvPr/>
        </p:nvSpPr>
        <p:spPr>
          <a:xfrm>
            <a:off x="822960" y="363016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493008"/>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Voorwaarde: bij elke bewering is te zien </a:t>
            </a:r>
            <a:r>
              <a:rPr sz="1600" b="1">
                <a:solidFill>
                  <a:srgbClr val="000000"/>
                </a:solidFill>
                <a:latin typeface="Arial"/>
              </a:rPr>
              <a:t>waar die vandaan komt</a:t>
            </a:r>
            <a:r>
              <a:rPr sz="1600" b="0">
                <a:solidFill>
                  <a:srgbClr val="000000"/>
                </a:solidFill>
                <a:latin typeface="Arial"/>
              </a:rPr>
              <a:t>.</a:t>
            </a:r>
          </a:p>
        </p:txBody>
      </p:sp>
      <p:sp>
        <p:nvSpPr>
          <p:cNvPr id="19" name="Rectangle 18"/>
          <p:cNvSpPr/>
          <p:nvPr/>
        </p:nvSpPr>
        <p:spPr>
          <a:xfrm>
            <a:off x="822960" y="419709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059936"/>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Dus niet: eerst iets moois maken en er voor de zekerheid </a:t>
            </a:r>
            <a:r>
              <a:rPr sz="1600" b="1">
                <a:solidFill>
                  <a:srgbClr val="000000"/>
                </a:solidFill>
                <a:latin typeface="Arial"/>
              </a:rPr>
              <a:t>een compleet rapport</a:t>
            </a:r>
            <a:r>
              <a:rPr sz="1600" b="0">
                <a:solidFill>
                  <a:srgbClr val="000000"/>
                </a:solidFill>
                <a:latin typeface="Arial"/>
              </a:rPr>
              <a:t> achteraan schrijven.</a:t>
            </a:r>
          </a:p>
        </p:txBody>
      </p:sp>
      <p:sp>
        <p:nvSpPr>
          <p:cNvPr id="21" name="TextBox 20"/>
          <p:cNvSpPr txBox="1"/>
          <p:nvPr/>
        </p:nvSpPr>
        <p:spPr>
          <a:xfrm>
            <a:off x="822960" y="5120640"/>
            <a:ext cx="10515600" cy="548640"/>
          </a:xfrm>
          <a:prstGeom prst="rect">
            <a:avLst/>
          </a:prstGeom>
          <a:noFill/>
        </p:spPr>
        <p:txBody>
          <a:bodyPr wrap="square" anchor="t" lIns="0" rIns="0" tIns="0" bIns="0">
            <a:spAutoFit/>
          </a:bodyPr>
          <a:lstStyle/>
          <a:p>
            <a:pPr algn="l">
              <a:lnSpc>
                <a:spcPct val="95000"/>
              </a:lnSpc>
            </a:pPr>
            <a:r>
              <a:rPr sz="2200" b="1">
                <a:solidFill>
                  <a:srgbClr val="000000"/>
                </a:solidFill>
                <a:latin typeface="Arial"/>
              </a:rPr>
              <a:t>Wij beoordelen </a:t>
            </a:r>
            <a:r>
              <a:rPr sz="2200" b="1">
                <a:solidFill>
                  <a:srgbClr val="E50056"/>
                </a:solidFill>
                <a:latin typeface="Arial"/>
              </a:rPr>
              <a:t>wat</a:t>
            </a:r>
            <a:r>
              <a:rPr sz="2200" b="1">
                <a:solidFill>
                  <a:srgbClr val="000000"/>
                </a:solidFill>
                <a:latin typeface="Arial"/>
              </a:rPr>
              <a:t> je maakt, niet </a:t>
            </a:r>
            <a:r>
              <a:rPr sz="2200" b="1">
                <a:solidFill>
                  <a:srgbClr val="E50056"/>
                </a:solidFill>
                <a:latin typeface="Arial"/>
              </a:rPr>
              <a:t>hoeveel</a:t>
            </a:r>
            <a:r>
              <a:rPr sz="2200" b="1">
                <a:solidFill>
                  <a:srgbClr val="000000"/>
                </a:solidFill>
                <a:latin typeface="Arial"/>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12893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1289304" cy="274320"/>
          </a:xfrm>
          <a:prstGeom prst="rect">
            <a:avLst/>
          </a:prstGeom>
          <a:noFill/>
        </p:spPr>
        <p:txBody>
          <a:bodyPr wrap="square" anchor="t" lIns="0" rIns="0" tIns="0" bIns="0">
            <a:spAutoFit/>
          </a:bodyPr>
          <a:lstStyle/>
          <a:p>
            <a:pPr algn="ctr">
              <a:lnSpc>
                <a:spcPct val="95000"/>
              </a:lnSpc>
            </a:pPr>
            <a:r>
              <a:rPr sz="1100" b="1">
                <a:solidFill>
                  <a:srgbClr val="000000"/>
                </a:solidFill>
                <a:latin typeface="Courier New"/>
              </a:rPr>
              <a:t>WERKVORM 2</a:t>
            </a:r>
          </a:p>
        </p:txBody>
      </p:sp>
      <p:sp>
        <p:nvSpPr>
          <p:cNvPr id="7" name="TextBox 6"/>
          <p:cNvSpPr txBox="1"/>
          <p:nvPr/>
        </p:nvSpPr>
        <p:spPr>
          <a:xfrm>
            <a:off x="329184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PAK JE WERKBLAD</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8 MINUTEN</a:t>
            </a:r>
          </a:p>
        </p:txBody>
      </p:sp>
      <p:sp>
        <p:nvSpPr>
          <p:cNvPr id="9" name="Rectangle 8"/>
          <p:cNvSpPr/>
          <p:nvPr/>
        </p:nvSpPr>
        <p:spPr>
          <a:xfrm>
            <a:off x="0" y="6272784"/>
            <a:ext cx="12191695"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FFFFFF"/>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FFFFFF"/>
                </a:solidFill>
                <a:latin typeface="Courier New"/>
              </a:rPr>
              <a:t>07 / 09</a:t>
            </a:r>
          </a:p>
        </p:txBody>
      </p:sp>
      <p:sp>
        <p:nvSpPr>
          <p:cNvPr id="13" name="Rectangle 12"/>
          <p:cNvSpPr/>
          <p:nvPr/>
        </p:nvSpPr>
        <p:spPr>
          <a:xfrm>
            <a:off x="822960" y="1097280"/>
            <a:ext cx="3648456"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179576"/>
            <a:ext cx="3648456" cy="228600"/>
          </a:xfrm>
          <a:prstGeom prst="rect">
            <a:avLst/>
          </a:prstGeom>
          <a:noFill/>
        </p:spPr>
        <p:txBody>
          <a:bodyPr wrap="square" anchor="t" lIns="0" rIns="0" tIns="0" bIns="0">
            <a:spAutoFit/>
          </a:bodyPr>
          <a:lstStyle/>
          <a:p>
            <a:pPr algn="l">
              <a:lnSpc>
                <a:spcPct val="95000"/>
              </a:lnSpc>
            </a:pPr>
            <a:r>
              <a:rPr sz="1000" b="1">
                <a:solidFill>
                  <a:srgbClr val="FFFFFF"/>
                </a:solidFill>
                <a:latin typeface="Courier New"/>
              </a:rPr>
              <a:t>2 MIN KIEZEN · 4 MIN SCHETSEN · 2 MIN TOETSEN</a:t>
            </a:r>
          </a:p>
        </p:txBody>
      </p:sp>
      <p:sp>
        <p:nvSpPr>
          <p:cNvPr id="15" name="TextBox 14"/>
          <p:cNvSpPr txBox="1"/>
          <p:nvPr/>
        </p:nvSpPr>
        <p:spPr>
          <a:xfrm>
            <a:off x="822960" y="1600200"/>
            <a:ext cx="10515600" cy="1188720"/>
          </a:xfrm>
          <a:prstGeom prst="rect">
            <a:avLst/>
          </a:prstGeom>
          <a:noFill/>
        </p:spPr>
        <p:txBody>
          <a:bodyPr wrap="square" anchor="t" lIns="0" rIns="0" tIns="0" bIns="0">
            <a:spAutoFit/>
          </a:bodyPr>
          <a:lstStyle/>
          <a:p>
            <a:pPr algn="l">
              <a:lnSpc>
                <a:spcPct val="95000"/>
              </a:lnSpc>
            </a:pPr>
            <a:r>
              <a:rPr sz="3400" b="0">
                <a:solidFill>
                  <a:srgbClr val="FFFFFF"/>
                </a:solidFill>
                <a:latin typeface="Arial Black"/>
              </a:rPr>
              <a:t>KIES EEN VORM</a:t>
            </a:r>
          </a:p>
          <a:p>
            <a:pPr algn="l">
              <a:lnSpc>
                <a:spcPct val="95000"/>
              </a:lnSpc>
            </a:pPr>
            <a:r>
              <a:rPr sz="3400" b="0">
                <a:solidFill>
                  <a:srgbClr val="FFFFFF"/>
                </a:solidFill>
                <a:latin typeface="Arial Black"/>
              </a:rPr>
              <a:t>EN SCHETS HEM.</a:t>
            </a:r>
          </a:p>
        </p:txBody>
      </p:sp>
      <p:sp>
        <p:nvSpPr>
          <p:cNvPr id="16" name="Rectangle 15"/>
          <p:cNvSpPr/>
          <p:nvPr/>
        </p:nvSpPr>
        <p:spPr>
          <a:xfrm>
            <a:off x="822960" y="3063240"/>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82112"/>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ONE-PAGER</a:t>
            </a:r>
          </a:p>
        </p:txBody>
      </p:sp>
      <p:sp>
        <p:nvSpPr>
          <p:cNvPr id="18" name="Rectangle 17"/>
          <p:cNvSpPr/>
          <p:nvPr/>
        </p:nvSpPr>
        <p:spPr>
          <a:xfrm>
            <a:off x="3493008" y="3063240"/>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3182112"/>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MEMO</a:t>
            </a:r>
          </a:p>
        </p:txBody>
      </p:sp>
      <p:sp>
        <p:nvSpPr>
          <p:cNvPr id="20" name="Rectangle 19"/>
          <p:cNvSpPr/>
          <p:nvPr/>
        </p:nvSpPr>
        <p:spPr>
          <a:xfrm>
            <a:off x="6163056" y="3063240"/>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3056" y="3182112"/>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INFOGRAPHIC</a:t>
            </a:r>
          </a:p>
        </p:txBody>
      </p:sp>
      <p:sp>
        <p:nvSpPr>
          <p:cNvPr id="22" name="Rectangle 21"/>
          <p:cNvSpPr/>
          <p:nvPr/>
        </p:nvSpPr>
        <p:spPr>
          <a:xfrm>
            <a:off x="8833104" y="3063240"/>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33104" y="3182112"/>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DASHBOARD</a:t>
            </a:r>
          </a:p>
        </p:txBody>
      </p:sp>
      <p:sp>
        <p:nvSpPr>
          <p:cNvPr id="24" name="Rectangle 23"/>
          <p:cNvSpPr/>
          <p:nvPr/>
        </p:nvSpPr>
        <p:spPr>
          <a:xfrm>
            <a:off x="822960" y="3630168"/>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749040"/>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POSITION PAPER</a:t>
            </a:r>
          </a:p>
        </p:txBody>
      </p:sp>
      <p:sp>
        <p:nvSpPr>
          <p:cNvPr id="26" name="Rectangle 25"/>
          <p:cNvSpPr/>
          <p:nvPr/>
        </p:nvSpPr>
        <p:spPr>
          <a:xfrm>
            <a:off x="3493008" y="3630168"/>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93008" y="3749040"/>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WERKSESSIE</a:t>
            </a:r>
          </a:p>
        </p:txBody>
      </p:sp>
      <p:sp>
        <p:nvSpPr>
          <p:cNvPr id="28" name="Rectangle 27"/>
          <p:cNvSpPr/>
          <p:nvPr/>
        </p:nvSpPr>
        <p:spPr>
          <a:xfrm>
            <a:off x="6163056" y="3630168"/>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63056" y="3749040"/>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VIDEO</a:t>
            </a:r>
          </a:p>
        </p:txBody>
      </p:sp>
      <p:sp>
        <p:nvSpPr>
          <p:cNvPr id="30" name="Rectangle 29"/>
          <p:cNvSpPr/>
          <p:nvPr/>
        </p:nvSpPr>
        <p:spPr>
          <a:xfrm>
            <a:off x="8833104" y="3630168"/>
            <a:ext cx="2487168" cy="457200"/>
          </a:xfrm>
          <a:prstGeom prst="rect">
            <a:avLst/>
          </a:prstGeom>
          <a:solidFill>
            <a:srgbClr val="FFFFF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33104" y="3749040"/>
            <a:ext cx="2487168" cy="274320"/>
          </a:xfrm>
          <a:prstGeom prst="rect">
            <a:avLst/>
          </a:prstGeom>
          <a:noFill/>
        </p:spPr>
        <p:txBody>
          <a:bodyPr wrap="square" anchor="t" lIns="0" rIns="0" tIns="0" bIns="0">
            <a:spAutoFit/>
          </a:bodyPr>
          <a:lstStyle/>
          <a:p>
            <a:pPr algn="ctr">
              <a:lnSpc>
                <a:spcPct val="95000"/>
              </a:lnSpc>
            </a:pPr>
            <a:r>
              <a:rPr sz="1000" b="1">
                <a:solidFill>
                  <a:srgbClr val="000000"/>
                </a:solidFill>
                <a:latin typeface="Arial"/>
              </a:rPr>
              <a:t>IETS ANDERS</a:t>
            </a:r>
          </a:p>
        </p:txBody>
      </p:sp>
      <p:sp>
        <p:nvSpPr>
          <p:cNvPr id="32" name="Rectangle 31"/>
          <p:cNvSpPr/>
          <p:nvPr/>
        </p:nvSpPr>
        <p:spPr>
          <a:xfrm>
            <a:off x="822960" y="4343400"/>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443984"/>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01</a:t>
            </a:r>
          </a:p>
        </p:txBody>
      </p:sp>
      <p:sp>
        <p:nvSpPr>
          <p:cNvPr id="34" name="TextBox 33"/>
          <p:cNvSpPr txBox="1"/>
          <p:nvPr/>
        </p:nvSpPr>
        <p:spPr>
          <a:xfrm>
            <a:off x="1389888" y="4379976"/>
            <a:ext cx="10058400" cy="411480"/>
          </a:xfrm>
          <a:prstGeom prst="rect">
            <a:avLst/>
          </a:prstGeom>
          <a:noFill/>
        </p:spPr>
        <p:txBody>
          <a:bodyPr wrap="square" anchor="t" lIns="0" rIns="0" tIns="0" bIns="0">
            <a:spAutoFit/>
          </a:bodyPr>
          <a:lstStyle/>
          <a:p>
            <a:pPr algn="l">
              <a:lnSpc>
                <a:spcPct val="110000"/>
              </a:lnSpc>
            </a:pPr>
            <a:r>
              <a:rPr sz="1400" b="0">
                <a:solidFill>
                  <a:srgbClr val="FFFFFF"/>
                </a:solidFill>
                <a:latin typeface="Arial"/>
              </a:rPr>
              <a:t>Kies er één die past bij </a:t>
            </a:r>
            <a:r>
              <a:rPr sz="1400" b="1">
                <a:solidFill>
                  <a:srgbClr val="FFFFFF"/>
                </a:solidFill>
                <a:latin typeface="Arial"/>
              </a:rPr>
              <a:t>je antwoorden van net</a:t>
            </a:r>
            <a:r>
              <a:rPr sz="1400" b="0">
                <a:solidFill>
                  <a:srgbClr val="FFFFFF"/>
                </a:solidFill>
                <a:latin typeface="Arial"/>
              </a:rPr>
              <a:t>.</a:t>
            </a:r>
          </a:p>
        </p:txBody>
      </p:sp>
      <p:sp>
        <p:nvSpPr>
          <p:cNvPr id="35" name="Rectangle 34"/>
          <p:cNvSpPr/>
          <p:nvPr/>
        </p:nvSpPr>
        <p:spPr>
          <a:xfrm>
            <a:off x="822960" y="4873752"/>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4974336"/>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02</a:t>
            </a:r>
          </a:p>
        </p:txBody>
      </p:sp>
      <p:sp>
        <p:nvSpPr>
          <p:cNvPr id="37" name="TextBox 36"/>
          <p:cNvSpPr txBox="1"/>
          <p:nvPr/>
        </p:nvSpPr>
        <p:spPr>
          <a:xfrm>
            <a:off x="1389888" y="4910328"/>
            <a:ext cx="10058400" cy="411480"/>
          </a:xfrm>
          <a:prstGeom prst="rect">
            <a:avLst/>
          </a:prstGeom>
          <a:noFill/>
        </p:spPr>
        <p:txBody>
          <a:bodyPr wrap="square" anchor="t" lIns="0" rIns="0" tIns="0" bIns="0">
            <a:spAutoFit/>
          </a:bodyPr>
          <a:lstStyle/>
          <a:p>
            <a:pPr algn="l">
              <a:lnSpc>
                <a:spcPct val="110000"/>
              </a:lnSpc>
            </a:pPr>
            <a:r>
              <a:rPr sz="1400" b="0">
                <a:solidFill>
                  <a:srgbClr val="FFFFFF"/>
                </a:solidFill>
                <a:latin typeface="Arial"/>
              </a:rPr>
              <a:t>Schets de eerste pagina. Geen mooie tekening: </a:t>
            </a:r>
            <a:r>
              <a:rPr sz="1400" b="1">
                <a:solidFill>
                  <a:srgbClr val="FFFFFF"/>
                </a:solidFill>
                <a:latin typeface="Arial"/>
              </a:rPr>
              <a:t>wat staat waar</a:t>
            </a:r>
            <a:r>
              <a:rPr sz="1400" b="0">
                <a:solidFill>
                  <a:srgbClr val="FFFFFF"/>
                </a:solidFill>
                <a:latin typeface="Arial"/>
              </a:rPr>
              <a:t>?</a:t>
            </a:r>
          </a:p>
        </p:txBody>
      </p:sp>
      <p:sp>
        <p:nvSpPr>
          <p:cNvPr id="38" name="Rectangle 37"/>
          <p:cNvSpPr/>
          <p:nvPr/>
        </p:nvSpPr>
        <p:spPr>
          <a:xfrm>
            <a:off x="822960" y="5404104"/>
            <a:ext cx="384048"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504688"/>
            <a:ext cx="384048" cy="274320"/>
          </a:xfrm>
          <a:prstGeom prst="rect">
            <a:avLst/>
          </a:prstGeom>
          <a:noFill/>
        </p:spPr>
        <p:txBody>
          <a:bodyPr wrap="square" anchor="t" lIns="0" rIns="0" tIns="0" bIns="0">
            <a:spAutoFit/>
          </a:bodyPr>
          <a:lstStyle/>
          <a:p>
            <a:pPr algn="ctr">
              <a:lnSpc>
                <a:spcPct val="95000"/>
              </a:lnSpc>
            </a:pPr>
            <a:r>
              <a:rPr sz="1100" b="1">
                <a:solidFill>
                  <a:srgbClr val="E50056"/>
                </a:solidFill>
                <a:latin typeface="Courier New"/>
              </a:rPr>
              <a:t>03</a:t>
            </a:r>
          </a:p>
        </p:txBody>
      </p:sp>
      <p:sp>
        <p:nvSpPr>
          <p:cNvPr id="40" name="TextBox 39"/>
          <p:cNvSpPr txBox="1"/>
          <p:nvPr/>
        </p:nvSpPr>
        <p:spPr>
          <a:xfrm>
            <a:off x="1389888" y="5440680"/>
            <a:ext cx="10058400" cy="411480"/>
          </a:xfrm>
          <a:prstGeom prst="rect">
            <a:avLst/>
          </a:prstGeom>
          <a:noFill/>
        </p:spPr>
        <p:txBody>
          <a:bodyPr wrap="square" anchor="t" lIns="0" rIns="0" tIns="0" bIns="0">
            <a:spAutoFit/>
          </a:bodyPr>
          <a:lstStyle/>
          <a:p>
            <a:pPr algn="l">
              <a:lnSpc>
                <a:spcPct val="110000"/>
              </a:lnSpc>
            </a:pPr>
            <a:r>
              <a:rPr sz="1400" b="0">
                <a:solidFill>
                  <a:srgbClr val="FFFFFF"/>
                </a:solidFill>
                <a:latin typeface="Arial"/>
              </a:rPr>
              <a:t>Laat het zien en vraag: </a:t>
            </a:r>
            <a:r>
              <a:rPr sz="1400" b="1">
                <a:solidFill>
                  <a:srgbClr val="FFFFFF"/>
                </a:solidFill>
                <a:latin typeface="Arial"/>
              </a:rPr>
              <a:t>wat denk jij dat de boodschap is</a:t>
            </a:r>
            <a:r>
              <a:rPr sz="1400" b="0">
                <a:solidFill>
                  <a:srgbClr val="FFFFFF"/>
                </a:solidFill>
                <a:latin typeface="Arial"/>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809244"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809244"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DELEN</a:t>
            </a:r>
          </a:p>
        </p:txBody>
      </p:sp>
      <p:sp>
        <p:nvSpPr>
          <p:cNvPr id="7" name="TextBox 6"/>
          <p:cNvSpPr txBox="1"/>
          <p:nvPr/>
        </p:nvSpPr>
        <p:spPr>
          <a:xfrm>
            <a:off x="2811780"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05 · LAAT MAAR ZIEN</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3 PITCHES</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08 / 09</a:t>
            </a:r>
          </a:p>
        </p:txBody>
      </p:sp>
      <p:sp>
        <p:nvSpPr>
          <p:cNvPr id="13" name="TextBox 12"/>
          <p:cNvSpPr txBox="1"/>
          <p:nvPr/>
        </p:nvSpPr>
        <p:spPr>
          <a:xfrm>
            <a:off x="822960" y="1188720"/>
            <a:ext cx="10515600" cy="822960"/>
          </a:xfrm>
          <a:prstGeom prst="rect">
            <a:avLst/>
          </a:prstGeom>
          <a:noFill/>
        </p:spPr>
        <p:txBody>
          <a:bodyPr wrap="square" anchor="t" lIns="0" rIns="0" tIns="0" bIns="0">
            <a:spAutoFit/>
          </a:bodyPr>
          <a:lstStyle/>
          <a:p>
            <a:pPr algn="l">
              <a:lnSpc>
                <a:spcPct val="95000"/>
              </a:lnSpc>
            </a:pPr>
            <a:r>
              <a:rPr sz="3800" b="0">
                <a:solidFill>
                  <a:srgbClr val="000000"/>
                </a:solidFill>
                <a:latin typeface="Arial Black"/>
              </a:rPr>
              <a:t>WIE DURFT?</a:t>
            </a:r>
          </a:p>
        </p:txBody>
      </p:sp>
      <p:sp>
        <p:nvSpPr>
          <p:cNvPr id="14" name="Rectangle 13"/>
          <p:cNvSpPr/>
          <p:nvPr/>
        </p:nvSpPr>
        <p:spPr>
          <a:xfrm>
            <a:off x="822960" y="228600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926080"/>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2788920"/>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Drie schetsen, </a:t>
            </a:r>
            <a:r>
              <a:rPr sz="1600" b="1">
                <a:solidFill>
                  <a:srgbClr val="000000"/>
                </a:solidFill>
                <a:latin typeface="Arial"/>
              </a:rPr>
              <a:t>30 seconden</a:t>
            </a:r>
            <a:r>
              <a:rPr sz="1600" b="0">
                <a:solidFill>
                  <a:srgbClr val="000000"/>
                </a:solidFill>
                <a:latin typeface="Arial"/>
              </a:rPr>
              <a:t> per persoon.</a:t>
            </a:r>
          </a:p>
        </p:txBody>
      </p:sp>
      <p:sp>
        <p:nvSpPr>
          <p:cNvPr id="17" name="Rectangle 16"/>
          <p:cNvSpPr/>
          <p:nvPr/>
        </p:nvSpPr>
        <p:spPr>
          <a:xfrm>
            <a:off x="822960" y="3493008"/>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355848"/>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Zeg: welke vorm, voor wie, en </a:t>
            </a:r>
            <a:r>
              <a:rPr sz="1600" b="1">
                <a:solidFill>
                  <a:srgbClr val="000000"/>
                </a:solidFill>
                <a:latin typeface="Arial"/>
              </a:rPr>
              <a:t>waarom die past</a:t>
            </a:r>
            <a:r>
              <a:rPr sz="1600" b="0">
                <a:solidFill>
                  <a:srgbClr val="000000"/>
                </a:solidFill>
                <a:latin typeface="Arial"/>
              </a:rPr>
              <a:t>.</a:t>
            </a:r>
          </a:p>
        </p:txBody>
      </p:sp>
      <p:sp>
        <p:nvSpPr>
          <p:cNvPr id="19" name="Rectangle 18"/>
          <p:cNvSpPr/>
          <p:nvPr/>
        </p:nvSpPr>
        <p:spPr>
          <a:xfrm>
            <a:off x="822960" y="4059936"/>
            <a:ext cx="237744" cy="5486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922776"/>
            <a:ext cx="10058400" cy="457200"/>
          </a:xfrm>
          <a:prstGeom prst="rect">
            <a:avLst/>
          </a:prstGeom>
          <a:noFill/>
        </p:spPr>
        <p:txBody>
          <a:bodyPr wrap="square" anchor="t" lIns="0" rIns="0" tIns="0" bIns="0">
            <a:spAutoFit/>
          </a:bodyPr>
          <a:lstStyle/>
          <a:p>
            <a:pPr algn="l">
              <a:lnSpc>
                <a:spcPct val="110000"/>
              </a:lnSpc>
            </a:pPr>
            <a:r>
              <a:rPr sz="1600" b="0">
                <a:solidFill>
                  <a:srgbClr val="000000"/>
                </a:solidFill>
                <a:latin typeface="Arial"/>
              </a:rPr>
              <a:t>Begreep je toetser iets anders dan je bedoelde? </a:t>
            </a:r>
            <a:r>
              <a:rPr sz="1600" b="1">
                <a:solidFill>
                  <a:srgbClr val="000000"/>
                </a:solidFill>
                <a:latin typeface="Arial"/>
              </a:rPr>
              <a:t>Vertel dat er vooral bij</a:t>
            </a:r>
            <a:r>
              <a:rPr sz="1600" b="0">
                <a:solidFill>
                  <a:srgbClr val="000000"/>
                </a:solidFill>
                <a:latin typeface="Arial"/>
              </a:rPr>
              <a:t>.</a:t>
            </a:r>
          </a:p>
        </p:txBody>
      </p:sp>
      <p:sp>
        <p:nvSpPr>
          <p:cNvPr id="21" name="TextBox 20"/>
          <p:cNvSpPr txBox="1"/>
          <p:nvPr/>
        </p:nvSpPr>
        <p:spPr>
          <a:xfrm>
            <a:off x="822960" y="4937760"/>
            <a:ext cx="10515600" cy="548640"/>
          </a:xfrm>
          <a:prstGeom prst="rect">
            <a:avLst/>
          </a:prstGeom>
          <a:noFill/>
        </p:spPr>
        <p:txBody>
          <a:bodyPr wrap="square" anchor="t" lIns="0" rIns="0" tIns="0" bIns="0">
            <a:spAutoFit/>
          </a:bodyPr>
          <a:lstStyle/>
          <a:p>
            <a:pPr algn="l">
              <a:lnSpc>
                <a:spcPct val="95000"/>
              </a:lnSpc>
            </a:pPr>
            <a:r>
              <a:rPr sz="2000" b="1">
                <a:solidFill>
                  <a:srgbClr val="000000"/>
                </a:solidFill>
                <a:latin typeface="Arial"/>
              </a:rPr>
              <a:t>Daar leren we met z'n allen het meest van.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8638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n-logo-wit.png"/>
          <p:cNvPicPr>
            <a:picLocks noChangeAspect="1"/>
          </p:cNvPicPr>
          <p:nvPr/>
        </p:nvPicPr>
        <p:blipFill>
          <a:blip r:embed="rId2"/>
          <a:stretch>
            <a:fillRect/>
          </a:stretch>
        </p:blipFill>
        <p:spPr>
          <a:xfrm>
            <a:off x="457200" y="213099"/>
            <a:ext cx="868680" cy="360184"/>
          </a:xfrm>
          <a:prstGeom prst="rect">
            <a:avLst/>
          </a:prstGeom>
        </p:spPr>
      </p:pic>
      <p:sp>
        <p:nvSpPr>
          <p:cNvPr id="5" name="Rectangle 4"/>
          <p:cNvSpPr/>
          <p:nvPr/>
        </p:nvSpPr>
        <p:spPr>
          <a:xfrm>
            <a:off x="1709928" y="0"/>
            <a:ext cx="905256" cy="786384"/>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301752"/>
            <a:ext cx="905256" cy="274320"/>
          </a:xfrm>
          <a:prstGeom prst="rect">
            <a:avLst/>
          </a:prstGeom>
          <a:noFill/>
        </p:spPr>
        <p:txBody>
          <a:bodyPr wrap="square" anchor="t" lIns="0" rIns="0" tIns="0" bIns="0">
            <a:spAutoFit/>
          </a:bodyPr>
          <a:lstStyle/>
          <a:p>
            <a:pPr algn="ctr">
              <a:lnSpc>
                <a:spcPct val="95000"/>
              </a:lnSpc>
            </a:pPr>
            <a:r>
              <a:rPr sz="1100" b="1">
                <a:solidFill>
                  <a:srgbClr val="FFFFFF"/>
                </a:solidFill>
                <a:latin typeface="Courier New"/>
              </a:rPr>
              <a:t>WAT NU</a:t>
            </a:r>
          </a:p>
        </p:txBody>
      </p:sp>
      <p:sp>
        <p:nvSpPr>
          <p:cNvPr id="7" name="TextBox 6"/>
          <p:cNvSpPr txBox="1"/>
          <p:nvPr/>
        </p:nvSpPr>
        <p:spPr>
          <a:xfrm>
            <a:off x="2907791" y="310896"/>
            <a:ext cx="4754880" cy="274320"/>
          </a:xfrm>
          <a:prstGeom prst="rect">
            <a:avLst/>
          </a:prstGeom>
          <a:noFill/>
        </p:spPr>
        <p:txBody>
          <a:bodyPr wrap="square" anchor="t" lIns="0" rIns="0" tIns="0" bIns="0">
            <a:spAutoFit/>
          </a:bodyPr>
          <a:lstStyle/>
          <a:p>
            <a:pPr algn="l">
              <a:lnSpc>
                <a:spcPct val="95000"/>
              </a:lnSpc>
            </a:pPr>
            <a:r>
              <a:rPr sz="1000" b="0">
                <a:solidFill>
                  <a:srgbClr val="919191"/>
                </a:solidFill>
                <a:latin typeface="Courier New"/>
              </a:rPr>
              <a:t>IN JE PLAN VAN AANPAK</a:t>
            </a:r>
          </a:p>
        </p:txBody>
      </p:sp>
      <p:sp>
        <p:nvSpPr>
          <p:cNvPr id="8" name="TextBox 7"/>
          <p:cNvSpPr txBox="1"/>
          <p:nvPr/>
        </p:nvSpPr>
        <p:spPr>
          <a:xfrm>
            <a:off x="6400800" y="310896"/>
            <a:ext cx="5330952" cy="274320"/>
          </a:xfrm>
          <a:prstGeom prst="rect">
            <a:avLst/>
          </a:prstGeom>
          <a:noFill/>
        </p:spPr>
        <p:txBody>
          <a:bodyPr wrap="square" anchor="t" lIns="0" rIns="0" tIns="0" bIns="0">
            <a:spAutoFit/>
          </a:bodyPr>
          <a:lstStyle/>
          <a:p>
            <a:pPr algn="r">
              <a:lnSpc>
                <a:spcPct val="95000"/>
              </a:lnSpc>
            </a:pPr>
            <a:r>
              <a:rPr sz="1000" b="0">
                <a:solidFill>
                  <a:srgbClr val="919191"/>
                </a:solidFill>
                <a:latin typeface="Courier New"/>
              </a:rPr>
              <a:t>TOT SLOT</a:t>
            </a:r>
          </a:p>
        </p:txBody>
      </p:sp>
      <p:sp>
        <p:nvSpPr>
          <p:cNvPr id="9" name="Rectangle 8"/>
          <p:cNvSpPr/>
          <p:nvPr/>
        </p:nvSpPr>
        <p:spPr>
          <a:xfrm>
            <a:off x="0" y="6272784"/>
            <a:ext cx="12191695" cy="18288"/>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6446520"/>
            <a:ext cx="137160" cy="13716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437376"/>
            <a:ext cx="4572000" cy="256032"/>
          </a:xfrm>
          <a:prstGeom prst="rect">
            <a:avLst/>
          </a:prstGeom>
          <a:noFill/>
        </p:spPr>
        <p:txBody>
          <a:bodyPr wrap="square" anchor="t" lIns="0" rIns="0" tIns="0" bIns="0">
            <a:spAutoFit/>
          </a:bodyPr>
          <a:lstStyle/>
          <a:p>
            <a:pPr algn="l">
              <a:lnSpc>
                <a:spcPct val="95000"/>
              </a:lnSpc>
            </a:pPr>
            <a:r>
              <a:rPr sz="1000" b="0">
                <a:solidFill>
                  <a:srgbClr val="757575"/>
                </a:solidFill>
                <a:latin typeface="Courier New"/>
              </a:rPr>
              <a:t>BEDRIJFSKUNDE</a:t>
            </a:r>
          </a:p>
        </p:txBody>
      </p:sp>
      <p:sp>
        <p:nvSpPr>
          <p:cNvPr id="12" name="TextBox 11"/>
          <p:cNvSpPr txBox="1"/>
          <p:nvPr/>
        </p:nvSpPr>
        <p:spPr>
          <a:xfrm>
            <a:off x="6675120" y="6437376"/>
            <a:ext cx="5056632" cy="256032"/>
          </a:xfrm>
          <a:prstGeom prst="rect">
            <a:avLst/>
          </a:prstGeom>
          <a:noFill/>
        </p:spPr>
        <p:txBody>
          <a:bodyPr wrap="square" anchor="t" lIns="0" rIns="0" tIns="0" bIns="0">
            <a:spAutoFit/>
          </a:bodyPr>
          <a:lstStyle/>
          <a:p>
            <a:pPr algn="r">
              <a:lnSpc>
                <a:spcPct val="95000"/>
              </a:lnSpc>
            </a:pPr>
            <a:r>
              <a:rPr sz="1000" b="1">
                <a:solidFill>
                  <a:srgbClr val="000000"/>
                </a:solidFill>
                <a:latin typeface="Courier New"/>
              </a:rPr>
              <a:t>09 / 09</a:t>
            </a:r>
          </a:p>
        </p:txBody>
      </p:sp>
      <p:sp>
        <p:nvSpPr>
          <p:cNvPr id="13" name="TextBox 12"/>
          <p:cNvSpPr txBox="1"/>
          <p:nvPr/>
        </p:nvSpPr>
        <p:spPr>
          <a:xfrm>
            <a:off x="822960" y="1097280"/>
            <a:ext cx="10515600" cy="1280160"/>
          </a:xfrm>
          <a:prstGeom prst="rect">
            <a:avLst/>
          </a:prstGeom>
          <a:noFill/>
        </p:spPr>
        <p:txBody>
          <a:bodyPr wrap="square" anchor="t" lIns="0" rIns="0" tIns="0" bIns="0">
            <a:spAutoFit/>
          </a:bodyPr>
          <a:lstStyle/>
          <a:p>
            <a:pPr algn="l">
              <a:lnSpc>
                <a:spcPct val="95000"/>
              </a:lnSpc>
            </a:pPr>
            <a:r>
              <a:rPr sz="3400" b="0">
                <a:solidFill>
                  <a:srgbClr val="000000"/>
                </a:solidFill>
                <a:latin typeface="Arial Black"/>
              </a:rPr>
              <a:t>ZET HET IN JE</a:t>
            </a:r>
          </a:p>
          <a:p>
            <a:pPr algn="l">
              <a:lnSpc>
                <a:spcPct val="95000"/>
              </a:lnSpc>
            </a:pPr>
            <a:r>
              <a:rPr sz="3400" b="0">
                <a:solidFill>
                  <a:srgbClr val="000000"/>
                </a:solidFill>
                <a:latin typeface="Arial Black"/>
              </a:rPr>
              <a:t>PLAN VAN AANPAK.</a:t>
            </a:r>
          </a:p>
        </p:txBody>
      </p:sp>
      <p:sp>
        <p:nvSpPr>
          <p:cNvPr id="14" name="Rectangle 13"/>
          <p:cNvSpPr/>
          <p:nvPr/>
        </p:nvSpPr>
        <p:spPr>
          <a:xfrm>
            <a:off x="822960" y="2468880"/>
            <a:ext cx="10515600" cy="502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880360"/>
            <a:ext cx="4937760" cy="1920240"/>
          </a:xfrm>
          <a:prstGeom prst="rect">
            <a:avLst/>
          </a:prstGeom>
          <a:solidFill>
            <a:srgbClr val="FFFFFF"/>
          </a:solidFill>
          <a:ln w="381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081528"/>
            <a:ext cx="4480560" cy="274320"/>
          </a:xfrm>
          <a:prstGeom prst="rect">
            <a:avLst/>
          </a:prstGeom>
          <a:noFill/>
        </p:spPr>
        <p:txBody>
          <a:bodyPr wrap="square" anchor="t" lIns="0" rIns="0" tIns="0" bIns="0">
            <a:spAutoFit/>
          </a:bodyPr>
          <a:lstStyle/>
          <a:p>
            <a:pPr algn="l">
              <a:lnSpc>
                <a:spcPct val="95000"/>
              </a:lnSpc>
            </a:pPr>
            <a:r>
              <a:rPr sz="1200" b="1">
                <a:solidFill>
                  <a:srgbClr val="000000"/>
                </a:solidFill>
                <a:latin typeface="Arial"/>
              </a:rPr>
              <a:t>DRIE REGELS VOLSTAAN</a:t>
            </a:r>
          </a:p>
        </p:txBody>
      </p:sp>
      <p:sp>
        <p:nvSpPr>
          <p:cNvPr id="17" name="Rectangle 16"/>
          <p:cNvSpPr/>
          <p:nvPr/>
        </p:nvSpPr>
        <p:spPr>
          <a:xfrm>
            <a:off x="1078992" y="3611880"/>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8" y="3502152"/>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Welk </a:t>
            </a:r>
            <a:r>
              <a:rPr sz="1400" b="1">
                <a:solidFill>
                  <a:srgbClr val="000000"/>
                </a:solidFill>
                <a:latin typeface="Arial"/>
              </a:rPr>
              <a:t>vehikel</a:t>
            </a:r>
            <a:r>
              <a:rPr sz="1400" b="0">
                <a:solidFill>
                  <a:srgbClr val="000000"/>
                </a:solidFill>
                <a:latin typeface="Arial"/>
              </a:rPr>
              <a:t> kies je?</a:t>
            </a:r>
          </a:p>
        </p:txBody>
      </p:sp>
      <p:sp>
        <p:nvSpPr>
          <p:cNvPr id="19" name="Rectangle 18"/>
          <p:cNvSpPr/>
          <p:nvPr/>
        </p:nvSpPr>
        <p:spPr>
          <a:xfrm>
            <a:off x="1078992" y="4014216"/>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89888" y="3904488"/>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Voor wie</a:t>
            </a:r>
            <a:r>
              <a:rPr sz="1400" b="0">
                <a:solidFill>
                  <a:srgbClr val="000000"/>
                </a:solidFill>
                <a:latin typeface="Arial"/>
              </a:rPr>
              <a:t> is het?</a:t>
            </a:r>
          </a:p>
        </p:txBody>
      </p:sp>
      <p:sp>
        <p:nvSpPr>
          <p:cNvPr id="21" name="Rectangle 20"/>
          <p:cNvSpPr/>
          <p:nvPr/>
        </p:nvSpPr>
        <p:spPr>
          <a:xfrm>
            <a:off x="1078992" y="4416552"/>
            <a:ext cx="201168" cy="45720"/>
          </a:xfrm>
          <a:prstGeom prst="rect">
            <a:avLst/>
          </a:prstGeom>
          <a:solidFill>
            <a:srgbClr val="E50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89888" y="4306824"/>
            <a:ext cx="4114800" cy="365760"/>
          </a:xfrm>
          <a:prstGeom prst="rect">
            <a:avLst/>
          </a:prstGeom>
          <a:noFill/>
        </p:spPr>
        <p:txBody>
          <a:bodyPr wrap="square" anchor="t" lIns="0" rIns="0" tIns="0" bIns="0">
            <a:spAutoFit/>
          </a:bodyPr>
          <a:lstStyle/>
          <a:p>
            <a:pPr algn="l">
              <a:lnSpc>
                <a:spcPct val="95000"/>
              </a:lnSpc>
            </a:pPr>
            <a:r>
              <a:rPr sz="1400" b="0">
                <a:solidFill>
                  <a:srgbClr val="000000"/>
                </a:solidFill>
                <a:latin typeface="Arial"/>
              </a:rPr>
              <a:t/>
            </a:r>
            <a:r>
              <a:rPr sz="1400" b="1">
                <a:solidFill>
                  <a:srgbClr val="000000"/>
                </a:solidFill>
                <a:latin typeface="Arial"/>
              </a:rPr>
              <a:t>Waarom</a:t>
            </a:r>
            <a:r>
              <a:rPr sz="1400" b="0">
                <a:solidFill>
                  <a:srgbClr val="000000"/>
                </a:solidFill>
                <a:latin typeface="Arial"/>
              </a:rPr>
              <a:t> past dat bij deze opdrachtgever?</a:t>
            </a:r>
          </a:p>
        </p:txBody>
      </p:sp>
      <p:sp>
        <p:nvSpPr>
          <p:cNvPr id="23" name="Rectangle 22"/>
          <p:cNvSpPr/>
          <p:nvPr/>
        </p:nvSpPr>
        <p:spPr>
          <a:xfrm>
            <a:off x="6446520" y="2880360"/>
            <a:ext cx="4937760" cy="1920240"/>
          </a:xfrm>
          <a:prstGeom prst="rect">
            <a:avLst/>
          </a:prstGeom>
          <a:solidFill>
            <a:srgbClr val="FFFFFF"/>
          </a:solidFill>
          <a:ln w="38100">
            <a:solidFill>
              <a:srgbClr val="E500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3081528"/>
            <a:ext cx="4480560" cy="274320"/>
          </a:xfrm>
          <a:prstGeom prst="rect">
            <a:avLst/>
          </a:prstGeom>
          <a:noFill/>
        </p:spPr>
        <p:txBody>
          <a:bodyPr wrap="square" anchor="t" lIns="0" rIns="0" tIns="0" bIns="0">
            <a:spAutoFit/>
          </a:bodyPr>
          <a:lstStyle/>
          <a:p>
            <a:pPr algn="l">
              <a:lnSpc>
                <a:spcPct val="95000"/>
              </a:lnSpc>
            </a:pPr>
            <a:r>
              <a:rPr sz="1200" b="1">
                <a:solidFill>
                  <a:srgbClr val="E50056"/>
                </a:solidFill>
                <a:latin typeface="Arial"/>
              </a:rPr>
              <a:t>EN VERDER</a:t>
            </a:r>
          </a:p>
        </p:txBody>
      </p:sp>
      <p:sp>
        <p:nvSpPr>
          <p:cNvPr id="25" name="TextBox 24"/>
          <p:cNvSpPr txBox="1"/>
          <p:nvPr/>
        </p:nvSpPr>
        <p:spPr>
          <a:xfrm>
            <a:off x="6702552" y="3520440"/>
            <a:ext cx="4434840" cy="1097280"/>
          </a:xfrm>
          <a:prstGeom prst="rect">
            <a:avLst/>
          </a:prstGeom>
          <a:noFill/>
        </p:spPr>
        <p:txBody>
          <a:bodyPr wrap="square" anchor="t" lIns="0" rIns="0" tIns="0" bIns="0">
            <a:spAutoFit/>
          </a:bodyPr>
          <a:lstStyle/>
          <a:p>
            <a:pPr algn="l">
              <a:lnSpc>
                <a:spcPct val="115000"/>
              </a:lnSpc>
            </a:pPr>
            <a:r>
              <a:rPr sz="1700" b="1">
                <a:solidFill>
                  <a:srgbClr val="000000"/>
                </a:solidFill>
                <a:latin typeface="Arial"/>
              </a:rPr>
              <a:t>Twijfel je of iets mag? Vraag het ons.</a:t>
            </a:r>
          </a:p>
          <a:p>
            <a:pPr algn="l">
              <a:lnSpc>
                <a:spcPct val="115000"/>
              </a:lnSpc>
            </a:pPr>
            <a:r>
              <a:rPr sz="1700" b="1">
                <a:solidFill>
                  <a:srgbClr val="000000"/>
                </a:solidFill>
                <a:latin typeface="Arial"/>
              </a:rPr>
              <a:t> </a:t>
            </a:r>
          </a:p>
          <a:p>
            <a:pPr algn="l">
              <a:lnSpc>
                <a:spcPct val="115000"/>
              </a:lnSpc>
            </a:pPr>
            <a:r>
              <a:rPr sz="1700" b="1">
                <a:solidFill>
                  <a:srgbClr val="E50056"/>
                </a:solidFill>
                <a:latin typeface="Arial"/>
              </a:rPr>
              <a:t>Het antwoord is vaker ja dan je denkt.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