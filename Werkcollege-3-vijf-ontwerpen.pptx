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bij de derde sessie. Je hebt nu een lezer in beeld, een keten erachter, en een eerste schets. Vandaag laten we AI meedenken: niet om het werk te laten doen, maar om je uit je eigen hoofd te krijgen. PRAKTISCH: iedereen heeft een laptop of telefoon nodig met een AI-assistent erop.  [0:00 - 1:30]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Waarom AI? Niet omdat het beter ontwerpt dan jij, maar omdat jij in je eentje meestal op een of twee ideeen komt en dan verliefd wordt op het eerste. Er zit wel een valkuil in: vraag je om een ontwerp, dan krijg je het gemiddelde van alles wat op internet staat, en dat is meestal een braaf adviesrapport. Divergeren voor je convergeert.  [1:30 - 4:00]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prompt staat op werkblad 3. Het geheim zit in twee dingen. Ten eerste dwing je de AI om op vijf assen positie te kiezen, zodat de ontwerpen niet in het midden blijven hangen. Ten tweede vraag je per ontwerp waar het faalt, en verbied je een aanbeveling. Zonder die regels krijg je vijf even brave voorstellen waar je niet uit kunt kiezen. En ten derde, in de praktijk het belangrijkst: je laat de AI aan het eind een tabel maken met de positie van elk ontwerp op elke as. Een controle die niemand kan nalezen, gebeurt namelijk niet.  [4:00 - 7:00]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Pak werkblad 3 en je laptop. Eerst drie minuten je context invullen, en neem dat serieus: hoe scherper je lezer en zijn eerste vraag, hoe bruikbaarder de uitkomst. Plak daarna de prompt eronder. Loop rond en let op studenten die hun context te vaag invullen, want daar gaat het mis. In de HTML-versie start je met W een aftelklok van 9 minuten.  [7:00 - 16:00]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 komt jouw werk. De AI heeft niet gekozen, dat mocht hij ook niet. De eerste drie vragen kennen jullie al. De vierde gaat over je onderbouwing. En de vijfde is de belangrijkste en komt uit de vorige sessie: durft jouw opdrachtgever dit door te sturen? Een ontwerp dat hij niet durft door te sturen komt nergens.  [16:00 - 19:00]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Scoor de vijf op werkblad 3 en kies er een. Schrijf op waarom die wint, en welk ontwerp als eerste afvalt en waarom precies. Die tweede vraag is bewust: afvallen is vaak makkelijker te beargumenteren dan kiezen, en dat scherpt je criteria. Leg het daarna voor aan een medestudent en laat die je onderbouwing aanvallen.  [19:00 - 26:30]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Twee of drie mensen. Vertel niet welk ontwerp je koos, maar wat je hebt laten vallen en waarom. Dat is veel interessanter, want daar zit je criterium in. Vraag door: was dat ontwerp slecht, of paste het niet bij deze lezer?  [26:30 - 29:00]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 slot een waarschuwing die je serieus moet nemen. De AI heeft je vijf startpunten gegeven, geen eindproduct. Wat je kiest moet je zelf kunnen maken en zelf kunnen verantwoorden, ook als wij doorvragen. Zet je keuze en onderbouwing in je plan van aanpak, en vermeld dat je AI hebt gebruikt om alternatieven te genereren. Dat is geen schande, dat is methodeverantwoording.  [29:00 - 30:00]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TextBox 4"/>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MINI-WERKCOLLEGE 3 · 30 MINUTEN</a:t>
            </a:r>
          </a:p>
        </p:txBody>
      </p:sp>
      <p:sp>
        <p:nvSpPr>
          <p:cNvPr id="6" name="Rectangle 5"/>
          <p:cNvSpPr/>
          <p:nvPr/>
        </p:nvSpPr>
        <p:spPr>
          <a:xfrm>
            <a:off x="0" y="6272784"/>
            <a:ext cx="12191695" cy="18288"/>
          </a:xfrm>
          <a:prstGeom prst="rect">
            <a:avLst/>
          </a:prstGeom>
          <a:solidFill>
            <a:srgbClr val="45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BEDRIJFSKUNDE</a:t>
            </a:r>
          </a:p>
        </p:txBody>
      </p:sp>
      <p:sp>
        <p:nvSpPr>
          <p:cNvPr id="9" name="TextBox 8"/>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01 / 08</a:t>
            </a:r>
          </a:p>
        </p:txBody>
      </p:sp>
      <p:sp>
        <p:nvSpPr>
          <p:cNvPr id="10" name="TextBox 9"/>
          <p:cNvSpPr txBox="1"/>
          <p:nvPr/>
        </p:nvSpPr>
        <p:spPr>
          <a:xfrm>
            <a:off x="822960" y="1143000"/>
            <a:ext cx="10058400" cy="365760"/>
          </a:xfrm>
          <a:prstGeom prst="rect">
            <a:avLst/>
          </a:prstGeom>
          <a:noFill/>
        </p:spPr>
        <p:txBody>
          <a:bodyPr wrap="square" anchor="t" lIns="0" rIns="0" tIns="0" bIns="0">
            <a:spAutoFit/>
          </a:bodyPr>
          <a:lstStyle/>
          <a:p>
            <a:pPr algn="l">
              <a:lnSpc>
                <a:spcPct val="95000"/>
              </a:lnSpc>
            </a:pPr>
            <a:r>
              <a:rPr sz="1300" b="1">
                <a:solidFill>
                  <a:srgbClr val="E50056"/>
                </a:solidFill>
                <a:latin typeface="Courier New"/>
              </a:rPr>
              <a:t>AFSTUDEEROPDRACHT  ·  JE EINDPRODUCT  ·  DEEL 3</a:t>
            </a:r>
          </a:p>
        </p:txBody>
      </p:sp>
      <p:sp>
        <p:nvSpPr>
          <p:cNvPr id="11" name="TextBox 10"/>
          <p:cNvSpPr txBox="1"/>
          <p:nvPr/>
        </p:nvSpPr>
        <p:spPr>
          <a:xfrm>
            <a:off x="822960" y="1783080"/>
            <a:ext cx="10515600" cy="2743200"/>
          </a:xfrm>
          <a:prstGeom prst="rect">
            <a:avLst/>
          </a:prstGeom>
          <a:noFill/>
        </p:spPr>
        <p:txBody>
          <a:bodyPr wrap="square" anchor="t" lIns="0" rIns="0" tIns="0" bIns="0">
            <a:spAutoFit/>
          </a:bodyPr>
          <a:lstStyle/>
          <a:p>
            <a:pPr algn="l">
              <a:lnSpc>
                <a:spcPct val="92000"/>
              </a:lnSpc>
            </a:pPr>
            <a:r>
              <a:rPr sz="5800" b="0">
                <a:solidFill>
                  <a:srgbClr val="FFFFFF"/>
                </a:solidFill>
                <a:latin typeface="Arial Black"/>
              </a:rPr>
              <a:t>VIJF ONTWERPEN.</a:t>
            </a:r>
          </a:p>
          <a:p>
            <a:pPr algn="l">
              <a:lnSpc>
                <a:spcPct val="92000"/>
              </a:lnSpc>
            </a:pPr>
            <a:r>
              <a:rPr sz="5800" b="0">
                <a:solidFill>
                  <a:srgbClr val="E50056"/>
                </a:solidFill>
                <a:latin typeface="Arial Black"/>
              </a:rPr>
              <a:t>ÉÉN KEUZE.</a:t>
            </a:r>
          </a:p>
        </p:txBody>
      </p:sp>
      <p:sp>
        <p:nvSpPr>
          <p:cNvPr id="12" name="TextBox 11"/>
          <p:cNvSpPr txBox="1"/>
          <p:nvPr/>
        </p:nvSpPr>
        <p:spPr>
          <a:xfrm>
            <a:off x="822960" y="4937760"/>
            <a:ext cx="9601200" cy="822960"/>
          </a:xfrm>
          <a:prstGeom prst="rect">
            <a:avLst/>
          </a:prstGeom>
          <a:noFill/>
        </p:spPr>
        <p:txBody>
          <a:bodyPr wrap="square" anchor="t" lIns="0" rIns="0" tIns="0" bIns="0">
            <a:spAutoFit/>
          </a:bodyPr>
          <a:lstStyle/>
          <a:p>
            <a:pPr algn="l">
              <a:lnSpc>
                <a:spcPct val="95000"/>
              </a:lnSpc>
            </a:pPr>
            <a:r>
              <a:rPr sz="1900" b="0">
                <a:solidFill>
                  <a:srgbClr val="E3E3E3"/>
                </a:solidFill>
                <a:latin typeface="Arial"/>
              </a:rPr>
              <a:t>Laat AI vijf uitingen maken die zo ver mogelijk uit elkaar liggen. En kies daarna zelf.</a:t>
            </a:r>
          </a:p>
        </p:txBody>
      </p:sp>
      <p:sp>
        <p:nvSpPr>
          <p:cNvPr id="13" name="TextBox 12"/>
          <p:cNvSpPr txBox="1"/>
          <p:nvPr/>
        </p:nvSpPr>
        <p:spPr>
          <a:xfrm>
            <a:off x="6675120" y="5852160"/>
            <a:ext cx="5056632" cy="320040"/>
          </a:xfrm>
          <a:prstGeom prst="rect">
            <a:avLst/>
          </a:prstGeom>
          <a:noFill/>
        </p:spPr>
        <p:txBody>
          <a:bodyPr wrap="square" anchor="t" lIns="0" rIns="0" tIns="0" bIns="0">
            <a:spAutoFit/>
          </a:bodyPr>
          <a:lstStyle/>
          <a:p>
            <a:pPr algn="r">
              <a:lnSpc>
                <a:spcPct val="95000"/>
              </a:lnSpc>
            </a:pPr>
            <a:r>
              <a:rPr sz="1100" b="0">
                <a:solidFill>
                  <a:srgbClr val="919191"/>
                </a:solidFill>
                <a:latin typeface="Courier New"/>
              </a:rPr>
              <a:t>Judith  &amp;  Witek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KERN</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01 · WAAROM AI</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STARTPUNTEN, GEEN ANTWOORD</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02 / 08</a:t>
            </a:r>
          </a:p>
        </p:txBody>
      </p:sp>
      <p:sp>
        <p:nvSpPr>
          <p:cNvPr id="13" name="TextBox 12"/>
          <p:cNvSpPr txBox="1"/>
          <p:nvPr/>
        </p:nvSpPr>
        <p:spPr>
          <a:xfrm>
            <a:off x="822960" y="1097280"/>
            <a:ext cx="10515600" cy="1280160"/>
          </a:xfrm>
          <a:prstGeom prst="rect">
            <a:avLst/>
          </a:prstGeom>
          <a:noFill/>
        </p:spPr>
        <p:txBody>
          <a:bodyPr wrap="square" anchor="t" lIns="0" rIns="0" tIns="0" bIns="0">
            <a:spAutoFit/>
          </a:bodyPr>
          <a:lstStyle/>
          <a:p>
            <a:pPr algn="l">
              <a:lnSpc>
                <a:spcPct val="95000"/>
              </a:lnSpc>
            </a:pPr>
            <a:r>
              <a:rPr sz="3000" b="0">
                <a:solidFill>
                  <a:srgbClr val="000000"/>
                </a:solidFill>
                <a:latin typeface="Arial Black"/>
              </a:rPr>
              <a:t>AI GEEFT JE GEEN ANTWOORD.</a:t>
            </a:r>
          </a:p>
          <a:p>
            <a:pPr algn="l">
              <a:lnSpc>
                <a:spcPct val="95000"/>
              </a:lnSpc>
            </a:pPr>
            <a:r>
              <a:rPr sz="3000" b="0">
                <a:solidFill>
                  <a:srgbClr val="000000"/>
                </a:solidFill>
                <a:latin typeface="Arial Black"/>
              </a:rPr>
              <a:t>HET GEEFT JE STARTPUNTEN.</a:t>
            </a:r>
          </a:p>
        </p:txBody>
      </p:sp>
      <p:sp>
        <p:nvSpPr>
          <p:cNvPr id="14" name="Rectangle 13"/>
          <p:cNvSpPr/>
          <p:nvPr/>
        </p:nvSpPr>
        <p:spPr>
          <a:xfrm>
            <a:off x="822960" y="246888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063240"/>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926080"/>
            <a:ext cx="1024128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In je eentje kom je op </a:t>
            </a:r>
            <a:r>
              <a:rPr sz="1600" b="1">
                <a:solidFill>
                  <a:srgbClr val="000000"/>
                </a:solidFill>
                <a:latin typeface="Arial"/>
              </a:rPr>
              <a:t>één of twee</a:t>
            </a:r>
            <a:r>
              <a:rPr sz="1600" b="0">
                <a:solidFill>
                  <a:srgbClr val="000000"/>
                </a:solidFill>
                <a:latin typeface="Arial"/>
              </a:rPr>
              <a:t> ideeën. En op het eerste word je verliefd.</a:t>
            </a:r>
          </a:p>
        </p:txBody>
      </p:sp>
      <p:sp>
        <p:nvSpPr>
          <p:cNvPr id="17" name="Rectangle 16"/>
          <p:cNvSpPr/>
          <p:nvPr/>
        </p:nvSpPr>
        <p:spPr>
          <a:xfrm>
            <a:off x="822960" y="3630168"/>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493008"/>
            <a:ext cx="1024128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Vraag je om één ontwerp, dan krijg je </a:t>
            </a:r>
            <a:r>
              <a:rPr sz="1600" b="1">
                <a:solidFill>
                  <a:srgbClr val="000000"/>
                </a:solidFill>
                <a:latin typeface="Arial"/>
              </a:rPr>
              <a:t>het gemiddelde van het internet</a:t>
            </a:r>
            <a:r>
              <a:rPr sz="1600" b="0">
                <a:solidFill>
                  <a:srgbClr val="000000"/>
                </a:solidFill>
                <a:latin typeface="Arial"/>
              </a:rPr>
              <a:t>.</a:t>
            </a:r>
          </a:p>
        </p:txBody>
      </p:sp>
      <p:sp>
        <p:nvSpPr>
          <p:cNvPr id="19" name="Rectangle 18"/>
          <p:cNvSpPr/>
          <p:nvPr/>
        </p:nvSpPr>
        <p:spPr>
          <a:xfrm>
            <a:off x="822960" y="4197096"/>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4059936"/>
            <a:ext cx="1024128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Vraag je om </a:t>
            </a:r>
            <a:r>
              <a:rPr sz="1600" b="1">
                <a:solidFill>
                  <a:srgbClr val="000000"/>
                </a:solidFill>
                <a:latin typeface="Arial"/>
              </a:rPr>
              <a:t>vijf die maximaal verschillen</a:t>
            </a:r>
            <a:r>
              <a:rPr sz="1600" b="0">
                <a:solidFill>
                  <a:srgbClr val="000000"/>
                </a:solidFill>
                <a:latin typeface="Arial"/>
              </a:rPr>
              <a:t>, dan wordt het interessant.</a:t>
            </a:r>
          </a:p>
        </p:txBody>
      </p:sp>
      <p:sp>
        <p:nvSpPr>
          <p:cNvPr id="21" name="TextBox 20"/>
          <p:cNvSpPr txBox="1"/>
          <p:nvPr/>
        </p:nvSpPr>
        <p:spPr>
          <a:xfrm>
            <a:off x="822960" y="5029200"/>
            <a:ext cx="10515600" cy="640080"/>
          </a:xfrm>
          <a:prstGeom prst="rect">
            <a:avLst/>
          </a:prstGeom>
          <a:noFill/>
        </p:spPr>
        <p:txBody>
          <a:bodyPr wrap="square" anchor="t" lIns="0" rIns="0" tIns="0" bIns="0">
            <a:spAutoFit/>
          </a:bodyPr>
          <a:lstStyle/>
          <a:p>
            <a:pPr algn="l">
              <a:lnSpc>
                <a:spcPct val="95000"/>
              </a:lnSpc>
            </a:pPr>
            <a:r>
              <a:rPr sz="2200" b="1">
                <a:solidFill>
                  <a:srgbClr val="000000"/>
                </a:solidFill>
                <a:latin typeface="Arial"/>
              </a:rPr>
              <a:t>Eerst </a:t>
            </a:r>
            <a:r>
              <a:rPr sz="2200" b="1">
                <a:solidFill>
                  <a:srgbClr val="E50056"/>
                </a:solidFill>
                <a:latin typeface="Arial"/>
              </a:rPr>
              <a:t>uit elkaar</a:t>
            </a:r>
            <a:r>
              <a:rPr sz="2200" b="1">
                <a:solidFill>
                  <a:srgbClr val="000000"/>
                </a:solidFill>
                <a:latin typeface="Arial"/>
              </a:rPr>
              <a:t>. Daarna pas kiezen.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KERN</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02 · DE PROMPT</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WERKBLAD 3</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03 / 08</a:t>
            </a:r>
          </a:p>
        </p:txBody>
      </p:sp>
      <p:sp>
        <p:nvSpPr>
          <p:cNvPr id="13" name="TextBox 12"/>
          <p:cNvSpPr txBox="1"/>
          <p:nvPr/>
        </p:nvSpPr>
        <p:spPr>
          <a:xfrm>
            <a:off x="822960" y="1051560"/>
            <a:ext cx="10515600" cy="731520"/>
          </a:xfrm>
          <a:prstGeom prst="rect">
            <a:avLst/>
          </a:prstGeom>
          <a:noFill/>
        </p:spPr>
        <p:txBody>
          <a:bodyPr wrap="square" anchor="t" lIns="0" rIns="0" tIns="0" bIns="0">
            <a:spAutoFit/>
          </a:bodyPr>
          <a:lstStyle/>
          <a:p>
            <a:pPr algn="l">
              <a:lnSpc>
                <a:spcPct val="95000"/>
              </a:lnSpc>
            </a:pPr>
            <a:r>
              <a:rPr sz="3000" b="0">
                <a:solidFill>
                  <a:srgbClr val="000000"/>
                </a:solidFill>
                <a:latin typeface="Arial Black"/>
              </a:rPr>
              <a:t>VIJF ASSEN DWINGEN ZE UIT ELKAAR.</a:t>
            </a:r>
          </a:p>
        </p:txBody>
      </p:sp>
      <p:sp>
        <p:nvSpPr>
          <p:cNvPr id="14" name="TextBox 13"/>
          <p:cNvSpPr txBox="1"/>
          <p:nvPr/>
        </p:nvSpPr>
        <p:spPr>
          <a:xfrm>
            <a:off x="822960" y="1828800"/>
            <a:ext cx="10515600" cy="365760"/>
          </a:xfrm>
          <a:prstGeom prst="rect">
            <a:avLst/>
          </a:prstGeom>
          <a:noFill/>
        </p:spPr>
        <p:txBody>
          <a:bodyPr wrap="square" anchor="t" lIns="0" rIns="0" tIns="0" bIns="0">
            <a:spAutoFit/>
          </a:bodyPr>
          <a:lstStyle/>
          <a:p>
            <a:pPr algn="l">
              <a:lnSpc>
                <a:spcPct val="95000"/>
              </a:lnSpc>
            </a:pPr>
            <a:r>
              <a:rPr sz="1400" b="0">
                <a:solidFill>
                  <a:srgbClr val="454545"/>
                </a:solidFill>
                <a:latin typeface="Arial"/>
              </a:rPr>
              <a:t>Elk ontwerp moet op elke as een andere positie kiezen:</a:t>
            </a:r>
          </a:p>
        </p:txBody>
      </p:sp>
      <p:sp>
        <p:nvSpPr>
          <p:cNvPr id="15" name="Rectangle 14"/>
          <p:cNvSpPr/>
          <p:nvPr/>
        </p:nvSpPr>
        <p:spPr>
          <a:xfrm>
            <a:off x="822960" y="2377440"/>
            <a:ext cx="1965960" cy="173736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2578608"/>
            <a:ext cx="1691640" cy="274320"/>
          </a:xfrm>
          <a:prstGeom prst="rect">
            <a:avLst/>
          </a:prstGeom>
          <a:noFill/>
        </p:spPr>
        <p:txBody>
          <a:bodyPr wrap="square" anchor="t" lIns="0" rIns="0" tIns="0" bIns="0">
            <a:spAutoFit/>
          </a:bodyPr>
          <a:lstStyle/>
          <a:p>
            <a:pPr algn="l">
              <a:lnSpc>
                <a:spcPct val="95000"/>
              </a:lnSpc>
            </a:pPr>
            <a:r>
              <a:rPr sz="950" b="1">
                <a:solidFill>
                  <a:srgbClr val="E50056"/>
                </a:solidFill>
                <a:latin typeface="Arial"/>
              </a:rPr>
              <a:t>DICHTHEID</a:t>
            </a:r>
          </a:p>
        </p:txBody>
      </p:sp>
      <p:sp>
        <p:nvSpPr>
          <p:cNvPr id="17" name="TextBox 16"/>
          <p:cNvSpPr txBox="1"/>
          <p:nvPr/>
        </p:nvSpPr>
        <p:spPr>
          <a:xfrm>
            <a:off x="987552" y="2926080"/>
            <a:ext cx="1645920" cy="1097280"/>
          </a:xfrm>
          <a:prstGeom prst="rect">
            <a:avLst/>
          </a:prstGeom>
          <a:noFill/>
        </p:spPr>
        <p:txBody>
          <a:bodyPr wrap="square" anchor="t" lIns="0" rIns="0" tIns="0" bIns="0">
            <a:spAutoFit/>
          </a:bodyPr>
          <a:lstStyle/>
          <a:p>
            <a:pPr algn="l">
              <a:lnSpc>
                <a:spcPct val="115000"/>
              </a:lnSpc>
            </a:pPr>
            <a:r>
              <a:rPr sz="1100" b="0">
                <a:solidFill>
                  <a:srgbClr val="000000"/>
                </a:solidFill>
                <a:latin typeface="Arial"/>
              </a:rPr>
              <a:t>Van één cijfer tot het hele verhaal in beeld.</a:t>
            </a:r>
          </a:p>
        </p:txBody>
      </p:sp>
      <p:sp>
        <p:nvSpPr>
          <p:cNvPr id="18" name="Rectangle 17"/>
          <p:cNvSpPr/>
          <p:nvPr/>
        </p:nvSpPr>
        <p:spPr>
          <a:xfrm>
            <a:off x="2971800" y="2377440"/>
            <a:ext cx="1965960" cy="173736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36392" y="2578608"/>
            <a:ext cx="1691640" cy="274320"/>
          </a:xfrm>
          <a:prstGeom prst="rect">
            <a:avLst/>
          </a:prstGeom>
          <a:noFill/>
        </p:spPr>
        <p:txBody>
          <a:bodyPr wrap="square" anchor="t" lIns="0" rIns="0" tIns="0" bIns="0">
            <a:spAutoFit/>
          </a:bodyPr>
          <a:lstStyle/>
          <a:p>
            <a:pPr algn="l">
              <a:lnSpc>
                <a:spcPct val="95000"/>
              </a:lnSpc>
            </a:pPr>
            <a:r>
              <a:rPr sz="950" b="1">
                <a:solidFill>
                  <a:srgbClr val="E50056"/>
                </a:solidFill>
                <a:latin typeface="Arial"/>
              </a:rPr>
              <a:t>TOON</a:t>
            </a:r>
          </a:p>
        </p:txBody>
      </p:sp>
      <p:sp>
        <p:nvSpPr>
          <p:cNvPr id="20" name="TextBox 19"/>
          <p:cNvSpPr txBox="1"/>
          <p:nvPr/>
        </p:nvSpPr>
        <p:spPr>
          <a:xfrm>
            <a:off x="3136392" y="2926080"/>
            <a:ext cx="1645920" cy="1097280"/>
          </a:xfrm>
          <a:prstGeom prst="rect">
            <a:avLst/>
          </a:prstGeom>
          <a:noFill/>
        </p:spPr>
        <p:txBody>
          <a:bodyPr wrap="square" anchor="t" lIns="0" rIns="0" tIns="0" bIns="0">
            <a:spAutoFit/>
          </a:bodyPr>
          <a:lstStyle/>
          <a:p>
            <a:pPr algn="l">
              <a:lnSpc>
                <a:spcPct val="115000"/>
              </a:lnSpc>
            </a:pPr>
            <a:r>
              <a:rPr sz="1100" b="0">
                <a:solidFill>
                  <a:srgbClr val="000000"/>
                </a:solidFill>
                <a:latin typeface="Arial"/>
              </a:rPr>
              <a:t>Van nuchter en zakelijk tot urgent en activerend.</a:t>
            </a:r>
          </a:p>
        </p:txBody>
      </p:sp>
      <p:sp>
        <p:nvSpPr>
          <p:cNvPr id="21" name="Rectangle 20"/>
          <p:cNvSpPr/>
          <p:nvPr/>
        </p:nvSpPr>
        <p:spPr>
          <a:xfrm>
            <a:off x="5120640" y="2377440"/>
            <a:ext cx="1965960" cy="173736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85232" y="2578608"/>
            <a:ext cx="1691640" cy="274320"/>
          </a:xfrm>
          <a:prstGeom prst="rect">
            <a:avLst/>
          </a:prstGeom>
          <a:noFill/>
        </p:spPr>
        <p:txBody>
          <a:bodyPr wrap="square" anchor="t" lIns="0" rIns="0" tIns="0" bIns="0">
            <a:spAutoFit/>
          </a:bodyPr>
          <a:lstStyle/>
          <a:p>
            <a:pPr algn="l">
              <a:lnSpc>
                <a:spcPct val="95000"/>
              </a:lnSpc>
            </a:pPr>
            <a:r>
              <a:rPr sz="950" b="1">
                <a:solidFill>
                  <a:srgbClr val="E50056"/>
                </a:solidFill>
                <a:latin typeface="Arial"/>
              </a:rPr>
              <a:t>ORDENING</a:t>
            </a:r>
          </a:p>
        </p:txBody>
      </p:sp>
      <p:sp>
        <p:nvSpPr>
          <p:cNvPr id="23" name="TextBox 22"/>
          <p:cNvSpPr txBox="1"/>
          <p:nvPr/>
        </p:nvSpPr>
        <p:spPr>
          <a:xfrm>
            <a:off x="5285232" y="2926080"/>
            <a:ext cx="1645920" cy="1097280"/>
          </a:xfrm>
          <a:prstGeom prst="rect">
            <a:avLst/>
          </a:prstGeom>
          <a:noFill/>
        </p:spPr>
        <p:txBody>
          <a:bodyPr wrap="square" anchor="t" lIns="0" rIns="0" tIns="0" bIns="0">
            <a:spAutoFit/>
          </a:bodyPr>
          <a:lstStyle/>
          <a:p>
            <a:pPr algn="l">
              <a:lnSpc>
                <a:spcPct val="115000"/>
              </a:lnSpc>
            </a:pPr>
            <a:r>
              <a:rPr sz="1100" b="0">
                <a:solidFill>
                  <a:srgbClr val="000000"/>
                </a:solidFill>
                <a:latin typeface="Arial"/>
              </a:rPr>
              <a:t>Van conclusie eerst tot verhaal dat opbouwt.</a:t>
            </a:r>
          </a:p>
        </p:txBody>
      </p:sp>
      <p:sp>
        <p:nvSpPr>
          <p:cNvPr id="24" name="Rectangle 23"/>
          <p:cNvSpPr/>
          <p:nvPr/>
        </p:nvSpPr>
        <p:spPr>
          <a:xfrm>
            <a:off x="7269480" y="2377440"/>
            <a:ext cx="1965960" cy="173736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34072" y="2578608"/>
            <a:ext cx="1691640" cy="274320"/>
          </a:xfrm>
          <a:prstGeom prst="rect">
            <a:avLst/>
          </a:prstGeom>
          <a:noFill/>
        </p:spPr>
        <p:txBody>
          <a:bodyPr wrap="square" anchor="t" lIns="0" rIns="0" tIns="0" bIns="0">
            <a:spAutoFit/>
          </a:bodyPr>
          <a:lstStyle/>
          <a:p>
            <a:pPr algn="l">
              <a:lnSpc>
                <a:spcPct val="95000"/>
              </a:lnSpc>
            </a:pPr>
            <a:r>
              <a:rPr sz="950" b="1">
                <a:solidFill>
                  <a:srgbClr val="E50056"/>
                </a:solidFill>
                <a:latin typeface="Arial"/>
              </a:rPr>
              <a:t>DRAGER</a:t>
            </a:r>
          </a:p>
        </p:txBody>
      </p:sp>
      <p:sp>
        <p:nvSpPr>
          <p:cNvPr id="26" name="TextBox 25"/>
          <p:cNvSpPr txBox="1"/>
          <p:nvPr/>
        </p:nvSpPr>
        <p:spPr>
          <a:xfrm>
            <a:off x="7434072" y="2926080"/>
            <a:ext cx="1645920" cy="1097280"/>
          </a:xfrm>
          <a:prstGeom prst="rect">
            <a:avLst/>
          </a:prstGeom>
          <a:noFill/>
        </p:spPr>
        <p:txBody>
          <a:bodyPr wrap="square" anchor="t" lIns="0" rIns="0" tIns="0" bIns="0">
            <a:spAutoFit/>
          </a:bodyPr>
          <a:lstStyle/>
          <a:p>
            <a:pPr algn="l">
              <a:lnSpc>
                <a:spcPct val="115000"/>
              </a:lnSpc>
            </a:pPr>
            <a:r>
              <a:rPr sz="1100" b="0">
                <a:solidFill>
                  <a:srgbClr val="000000"/>
                </a:solidFill>
                <a:latin typeface="Arial"/>
              </a:rPr>
              <a:t>Van typografie tot data tot iets fysieks.</a:t>
            </a:r>
          </a:p>
        </p:txBody>
      </p:sp>
      <p:sp>
        <p:nvSpPr>
          <p:cNvPr id="27" name="Rectangle 26"/>
          <p:cNvSpPr/>
          <p:nvPr/>
        </p:nvSpPr>
        <p:spPr>
          <a:xfrm>
            <a:off x="9418320" y="2377440"/>
            <a:ext cx="1965960" cy="173736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82912" y="2578608"/>
            <a:ext cx="1691640" cy="274320"/>
          </a:xfrm>
          <a:prstGeom prst="rect">
            <a:avLst/>
          </a:prstGeom>
          <a:noFill/>
        </p:spPr>
        <p:txBody>
          <a:bodyPr wrap="square" anchor="t" lIns="0" rIns="0" tIns="0" bIns="0">
            <a:spAutoFit/>
          </a:bodyPr>
          <a:lstStyle/>
          <a:p>
            <a:pPr algn="l">
              <a:lnSpc>
                <a:spcPct val="95000"/>
              </a:lnSpc>
            </a:pPr>
            <a:r>
              <a:rPr sz="950" b="1">
                <a:solidFill>
                  <a:srgbClr val="E50056"/>
                </a:solidFill>
                <a:latin typeface="Arial"/>
              </a:rPr>
              <a:t>BESLISKRACHT</a:t>
            </a:r>
          </a:p>
        </p:txBody>
      </p:sp>
      <p:sp>
        <p:nvSpPr>
          <p:cNvPr id="29" name="TextBox 28"/>
          <p:cNvSpPr txBox="1"/>
          <p:nvPr/>
        </p:nvSpPr>
        <p:spPr>
          <a:xfrm>
            <a:off x="9582912" y="2926080"/>
            <a:ext cx="1645920" cy="1097280"/>
          </a:xfrm>
          <a:prstGeom prst="rect">
            <a:avLst/>
          </a:prstGeom>
          <a:noFill/>
        </p:spPr>
        <p:txBody>
          <a:bodyPr wrap="square" anchor="t" lIns="0" rIns="0" tIns="0" bIns="0">
            <a:spAutoFit/>
          </a:bodyPr>
          <a:lstStyle/>
          <a:p>
            <a:pPr algn="l">
              <a:lnSpc>
                <a:spcPct val="115000"/>
              </a:lnSpc>
            </a:pPr>
            <a:r>
              <a:rPr sz="1100" b="0">
                <a:solidFill>
                  <a:srgbClr val="000000"/>
                </a:solidFill>
                <a:latin typeface="Arial"/>
              </a:rPr>
              <a:t>Van verkennend tot één advies zonder ontsnapping.</a:t>
            </a:r>
          </a:p>
        </p:txBody>
      </p:sp>
      <p:sp>
        <p:nvSpPr>
          <p:cNvPr id="30" name="Rectangle 29"/>
          <p:cNvSpPr/>
          <p:nvPr/>
        </p:nvSpPr>
        <p:spPr>
          <a:xfrm>
            <a:off x="822960" y="4434840"/>
            <a:ext cx="10515600"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60" y="4709160"/>
            <a:ext cx="10515600" cy="914400"/>
          </a:xfrm>
          <a:prstGeom prst="rect">
            <a:avLst/>
          </a:prstGeom>
          <a:solidFill>
            <a:srgbClr val="F8E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4864608"/>
            <a:ext cx="10058400" cy="731520"/>
          </a:xfrm>
          <a:prstGeom prst="rect">
            <a:avLst/>
          </a:prstGeom>
          <a:noFill/>
        </p:spPr>
        <p:txBody>
          <a:bodyPr wrap="square" anchor="t" lIns="0" rIns="0" tIns="0" bIns="0">
            <a:spAutoFit/>
          </a:bodyPr>
          <a:lstStyle/>
          <a:p>
            <a:pPr algn="l">
              <a:lnSpc>
                <a:spcPct val="115000"/>
              </a:lnSpc>
            </a:pPr>
            <a:r>
              <a:rPr sz="1500" b="0">
                <a:solidFill>
                  <a:srgbClr val="000000"/>
                </a:solidFill>
                <a:latin typeface="Arial"/>
              </a:rPr>
              <a:t>Plus drie regels: </a:t>
            </a:r>
            <a:r>
              <a:rPr sz="1500" b="1">
                <a:solidFill>
                  <a:srgbClr val="000000"/>
                </a:solidFill>
                <a:latin typeface="Arial"/>
              </a:rPr>
              <a:t>geen aanbeveling</a:t>
            </a:r>
            <a:r>
              <a:rPr sz="1500" b="0">
                <a:solidFill>
                  <a:srgbClr val="000000"/>
                </a:solidFill>
                <a:latin typeface="Arial"/>
              </a:rPr>
              <a:t>, </a:t>
            </a:r>
            <a:r>
              <a:rPr sz="1500" b="1">
                <a:solidFill>
                  <a:srgbClr val="000000"/>
                </a:solidFill>
                <a:latin typeface="Arial"/>
              </a:rPr>
              <a:t>benoem waar elk ontwerp faalt</a:t>
            </a:r>
            <a:r>
              <a:rPr sz="1500" b="0">
                <a:solidFill>
                  <a:srgbClr val="000000"/>
                </a:solidFill>
                <a:latin typeface="Arial"/>
              </a:rPr>
              <a:t>, en </a:t>
            </a:r>
            <a:r>
              <a:rPr sz="1500" b="1">
                <a:solidFill>
                  <a:srgbClr val="000000"/>
                </a:solidFill>
                <a:latin typeface="Arial"/>
              </a:rPr>
              <a:t>laat de AI zijn eigen spreiding narekenen</a:t>
            </a:r>
            <a:r>
              <a:rPr sz="1500" b="0">
                <a:solidFill>
                  <a:srgbClr val="000000"/>
                </a:solidFill>
                <a:latin typeface="Aria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128930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1289304" cy="274320"/>
          </a:xfrm>
          <a:prstGeom prst="rect">
            <a:avLst/>
          </a:prstGeom>
          <a:noFill/>
        </p:spPr>
        <p:txBody>
          <a:bodyPr wrap="square" anchor="t" lIns="0" rIns="0" tIns="0" bIns="0">
            <a:spAutoFit/>
          </a:bodyPr>
          <a:lstStyle/>
          <a:p>
            <a:pPr algn="ctr">
              <a:lnSpc>
                <a:spcPct val="95000"/>
              </a:lnSpc>
            </a:pPr>
            <a:r>
              <a:rPr sz="1100" b="1">
                <a:solidFill>
                  <a:srgbClr val="000000"/>
                </a:solidFill>
                <a:latin typeface="Courier New"/>
              </a:rPr>
              <a:t>WERKVORM 5</a:t>
            </a:r>
          </a:p>
        </p:txBody>
      </p:sp>
      <p:sp>
        <p:nvSpPr>
          <p:cNvPr id="7" name="TextBox 6"/>
          <p:cNvSpPr txBox="1"/>
          <p:nvPr/>
        </p:nvSpPr>
        <p:spPr>
          <a:xfrm>
            <a:off x="3291840"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WERKBLAD 3 EN JE LAPTOP</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9 MINUTEN</a:t>
            </a:r>
          </a:p>
        </p:txBody>
      </p:sp>
      <p:sp>
        <p:nvSpPr>
          <p:cNvPr id="9" name="Rectangle 8"/>
          <p:cNvSpPr/>
          <p:nvPr/>
        </p:nvSpPr>
        <p:spPr>
          <a:xfrm>
            <a:off x="0" y="6272784"/>
            <a:ext cx="12191695"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FFFFFF"/>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04 / 08</a:t>
            </a:r>
          </a:p>
        </p:txBody>
      </p:sp>
      <p:sp>
        <p:nvSpPr>
          <p:cNvPr id="13" name="Rectangle 12"/>
          <p:cNvSpPr/>
          <p:nvPr/>
        </p:nvSpPr>
        <p:spPr>
          <a:xfrm>
            <a:off x="822960" y="1143000"/>
            <a:ext cx="3948379"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225296"/>
            <a:ext cx="3948379" cy="228600"/>
          </a:xfrm>
          <a:prstGeom prst="rect">
            <a:avLst/>
          </a:prstGeom>
          <a:noFill/>
        </p:spPr>
        <p:txBody>
          <a:bodyPr wrap="square" anchor="t" lIns="0" rIns="0" tIns="0" bIns="0">
            <a:spAutoFit/>
          </a:bodyPr>
          <a:lstStyle/>
          <a:p>
            <a:pPr algn="l">
              <a:lnSpc>
                <a:spcPct val="95000"/>
              </a:lnSpc>
            </a:pPr>
            <a:r>
              <a:rPr sz="1000" b="1">
                <a:solidFill>
                  <a:srgbClr val="FFFFFF"/>
                </a:solidFill>
                <a:latin typeface="Courier New"/>
              </a:rPr>
              <a:t>3 MIN CONTEXT · 4 MIN GENEREREN · 2 MIN DOORLEZEN</a:t>
            </a:r>
          </a:p>
        </p:txBody>
      </p:sp>
      <p:sp>
        <p:nvSpPr>
          <p:cNvPr id="15" name="TextBox 14"/>
          <p:cNvSpPr txBox="1"/>
          <p:nvPr/>
        </p:nvSpPr>
        <p:spPr>
          <a:xfrm>
            <a:off x="822960" y="1691640"/>
            <a:ext cx="10515600" cy="1280160"/>
          </a:xfrm>
          <a:prstGeom prst="rect">
            <a:avLst/>
          </a:prstGeom>
          <a:noFill/>
        </p:spPr>
        <p:txBody>
          <a:bodyPr wrap="square" anchor="t" lIns="0" rIns="0" tIns="0" bIns="0">
            <a:spAutoFit/>
          </a:bodyPr>
          <a:lstStyle/>
          <a:p>
            <a:pPr algn="l">
              <a:lnSpc>
                <a:spcPct val="95000"/>
              </a:lnSpc>
            </a:pPr>
            <a:r>
              <a:rPr sz="3800" b="0">
                <a:solidFill>
                  <a:srgbClr val="FFFFFF"/>
                </a:solidFill>
                <a:latin typeface="Arial Black"/>
              </a:rPr>
              <a:t>LAAT AI VIJF</a:t>
            </a:r>
          </a:p>
          <a:p>
            <a:pPr algn="l">
              <a:lnSpc>
                <a:spcPct val="95000"/>
              </a:lnSpc>
            </a:pPr>
            <a:r>
              <a:rPr sz="3800" b="0">
                <a:solidFill>
                  <a:srgbClr val="FFFFFF"/>
                </a:solidFill>
                <a:latin typeface="Arial Black"/>
              </a:rPr>
              <a:t>ONTWERPEN MAKEN.</a:t>
            </a:r>
          </a:p>
        </p:txBody>
      </p:sp>
      <p:sp>
        <p:nvSpPr>
          <p:cNvPr id="16" name="Rectangle 15"/>
          <p:cNvSpPr/>
          <p:nvPr/>
        </p:nvSpPr>
        <p:spPr>
          <a:xfrm>
            <a:off x="822960" y="3566160"/>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666744"/>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01</a:t>
            </a:r>
          </a:p>
        </p:txBody>
      </p:sp>
      <p:sp>
        <p:nvSpPr>
          <p:cNvPr id="18" name="TextBox 17"/>
          <p:cNvSpPr txBox="1"/>
          <p:nvPr/>
        </p:nvSpPr>
        <p:spPr>
          <a:xfrm>
            <a:off x="1389888" y="3602736"/>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Vul je </a:t>
            </a:r>
            <a:r>
              <a:rPr sz="1500" b="1">
                <a:solidFill>
                  <a:srgbClr val="FFFFFF"/>
                </a:solidFill>
                <a:latin typeface="Arial"/>
              </a:rPr>
              <a:t>context</a:t>
            </a:r>
            <a:r>
              <a:rPr sz="1500" b="0">
                <a:solidFill>
                  <a:srgbClr val="FFFFFF"/>
                </a:solidFill>
                <a:latin typeface="Arial"/>
              </a:rPr>
              <a:t> in op werkblad 3. Hoe scherper je lezer, hoe bruikbaarder de uitkomst.</a:t>
            </a:r>
          </a:p>
        </p:txBody>
      </p:sp>
      <p:sp>
        <p:nvSpPr>
          <p:cNvPr id="19" name="Rectangle 18"/>
          <p:cNvSpPr/>
          <p:nvPr/>
        </p:nvSpPr>
        <p:spPr>
          <a:xfrm>
            <a:off x="822960" y="4133087"/>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233672"/>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02</a:t>
            </a:r>
          </a:p>
        </p:txBody>
      </p:sp>
      <p:sp>
        <p:nvSpPr>
          <p:cNvPr id="21" name="TextBox 20"/>
          <p:cNvSpPr txBox="1"/>
          <p:nvPr/>
        </p:nvSpPr>
        <p:spPr>
          <a:xfrm>
            <a:off x="1389888" y="4169663"/>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Plak de </a:t>
            </a:r>
            <a:r>
              <a:rPr sz="1500" b="1">
                <a:solidFill>
                  <a:srgbClr val="FFFFFF"/>
                </a:solidFill>
                <a:latin typeface="Arial"/>
              </a:rPr>
              <a:t>prompt</a:t>
            </a:r>
            <a:r>
              <a:rPr sz="1500" b="0">
                <a:solidFill>
                  <a:srgbClr val="FFFFFF"/>
                </a:solidFill>
                <a:latin typeface="Arial"/>
              </a:rPr>
              <a:t> eronder en laat hem lopen.</a:t>
            </a:r>
          </a:p>
        </p:txBody>
      </p:sp>
      <p:sp>
        <p:nvSpPr>
          <p:cNvPr id="22" name="Rectangle 21"/>
          <p:cNvSpPr/>
          <p:nvPr/>
        </p:nvSpPr>
        <p:spPr>
          <a:xfrm>
            <a:off x="822960" y="4700016"/>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800600"/>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03</a:t>
            </a:r>
          </a:p>
        </p:txBody>
      </p:sp>
      <p:sp>
        <p:nvSpPr>
          <p:cNvPr id="24" name="TextBox 23"/>
          <p:cNvSpPr txBox="1"/>
          <p:nvPr/>
        </p:nvSpPr>
        <p:spPr>
          <a:xfrm>
            <a:off x="1389888" y="4736592"/>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Lijken er twee te veel op elkaar? </a:t>
            </a:r>
            <a:r>
              <a:rPr sz="1500" b="1">
                <a:solidFill>
                  <a:srgbClr val="FFFFFF"/>
                </a:solidFill>
                <a:latin typeface="Arial"/>
              </a:rPr>
              <a:t>Vraag om een radicalere vervanger</a:t>
            </a:r>
            <a:r>
              <a:rPr sz="1500" b="0">
                <a:solidFill>
                  <a:srgbClr val="FFFFFF"/>
                </a:solidFill>
                <a:latin typeface="Arial"/>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KERN</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03 · BEOORDELEN</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VIJF VRAGEN</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05 / 08</a:t>
            </a:r>
          </a:p>
        </p:txBody>
      </p:sp>
      <p:sp>
        <p:nvSpPr>
          <p:cNvPr id="13" name="TextBox 12"/>
          <p:cNvSpPr txBox="1"/>
          <p:nvPr/>
        </p:nvSpPr>
        <p:spPr>
          <a:xfrm>
            <a:off x="822960" y="1097280"/>
            <a:ext cx="10515600" cy="128016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DE AI KOOS NIET.</a:t>
            </a:r>
          </a:p>
          <a:p>
            <a:pPr algn="l">
              <a:lnSpc>
                <a:spcPct val="95000"/>
              </a:lnSpc>
            </a:pPr>
            <a:r>
              <a:rPr sz="3400" b="0">
                <a:solidFill>
                  <a:srgbClr val="000000"/>
                </a:solidFill>
                <a:latin typeface="Arial Black"/>
              </a:rPr>
              <a:t>JIJ WEL.</a:t>
            </a:r>
          </a:p>
        </p:txBody>
      </p:sp>
      <p:sp>
        <p:nvSpPr>
          <p:cNvPr id="14" name="Rectangle 13"/>
          <p:cNvSpPr/>
          <p:nvPr/>
        </p:nvSpPr>
        <p:spPr>
          <a:xfrm>
            <a:off x="822960" y="246888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2971800"/>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834640"/>
            <a:ext cx="10241280" cy="457200"/>
          </a:xfrm>
          <a:prstGeom prst="rect">
            <a:avLst/>
          </a:prstGeom>
          <a:noFill/>
        </p:spPr>
        <p:txBody>
          <a:bodyPr wrap="square" anchor="t" lIns="0" rIns="0" tIns="0" bIns="0">
            <a:spAutoFit/>
          </a:bodyPr>
          <a:lstStyle/>
          <a:p>
            <a:pPr algn="l">
              <a:lnSpc>
                <a:spcPct val="110000"/>
              </a:lnSpc>
            </a:pPr>
            <a:r>
              <a:rPr sz="1500" b="0">
                <a:solidFill>
                  <a:srgbClr val="000000"/>
                </a:solidFill>
                <a:latin typeface="Arial"/>
              </a:rPr>
              <a:t>Landt het </a:t>
            </a:r>
            <a:r>
              <a:rPr sz="1500" b="1">
                <a:solidFill>
                  <a:srgbClr val="000000"/>
                </a:solidFill>
                <a:latin typeface="Arial"/>
              </a:rPr>
              <a:t>binnen twintig seconden</a:t>
            </a:r>
            <a:r>
              <a:rPr sz="1500" b="0">
                <a:solidFill>
                  <a:srgbClr val="000000"/>
                </a:solidFill>
                <a:latin typeface="Arial"/>
              </a:rPr>
              <a:t> bij mijn lezer?</a:t>
            </a:r>
          </a:p>
        </p:txBody>
      </p:sp>
      <p:sp>
        <p:nvSpPr>
          <p:cNvPr id="17" name="Rectangle 16"/>
          <p:cNvSpPr/>
          <p:nvPr/>
        </p:nvSpPr>
        <p:spPr>
          <a:xfrm>
            <a:off x="822960" y="3447288"/>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310128"/>
            <a:ext cx="10241280" cy="457200"/>
          </a:xfrm>
          <a:prstGeom prst="rect">
            <a:avLst/>
          </a:prstGeom>
          <a:noFill/>
        </p:spPr>
        <p:txBody>
          <a:bodyPr wrap="square" anchor="t" lIns="0" rIns="0" tIns="0" bIns="0">
            <a:spAutoFit/>
          </a:bodyPr>
          <a:lstStyle/>
          <a:p>
            <a:pPr algn="l">
              <a:lnSpc>
                <a:spcPct val="110000"/>
              </a:lnSpc>
            </a:pPr>
            <a:r>
              <a:rPr sz="1500" b="0">
                <a:solidFill>
                  <a:srgbClr val="000000"/>
                </a:solidFill>
                <a:latin typeface="Arial"/>
              </a:rPr>
              <a:t>Past de </a:t>
            </a:r>
            <a:r>
              <a:rPr sz="1500" b="1">
                <a:solidFill>
                  <a:srgbClr val="000000"/>
                </a:solidFill>
                <a:latin typeface="Arial"/>
              </a:rPr>
              <a:t>toon</a:t>
            </a:r>
            <a:r>
              <a:rPr sz="1500" b="0">
                <a:solidFill>
                  <a:srgbClr val="000000"/>
                </a:solidFill>
                <a:latin typeface="Arial"/>
              </a:rPr>
              <a:t> bij deze organisatie?</a:t>
            </a:r>
          </a:p>
        </p:txBody>
      </p:sp>
      <p:sp>
        <p:nvSpPr>
          <p:cNvPr id="19" name="Rectangle 18"/>
          <p:cNvSpPr/>
          <p:nvPr/>
        </p:nvSpPr>
        <p:spPr>
          <a:xfrm>
            <a:off x="822960" y="3922776"/>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785616"/>
            <a:ext cx="10241280" cy="457200"/>
          </a:xfrm>
          <a:prstGeom prst="rect">
            <a:avLst/>
          </a:prstGeom>
          <a:noFill/>
        </p:spPr>
        <p:txBody>
          <a:bodyPr wrap="square" anchor="t" lIns="0" rIns="0" tIns="0" bIns="0">
            <a:spAutoFit/>
          </a:bodyPr>
          <a:lstStyle/>
          <a:p>
            <a:pPr algn="l">
              <a:lnSpc>
                <a:spcPct val="110000"/>
              </a:lnSpc>
            </a:pPr>
            <a:r>
              <a:rPr sz="1500" b="0">
                <a:solidFill>
                  <a:srgbClr val="000000"/>
                </a:solidFill>
                <a:latin typeface="Arial"/>
              </a:rPr>
              <a:t>Kan ik dit </a:t>
            </a:r>
            <a:r>
              <a:rPr sz="1500" b="1">
                <a:solidFill>
                  <a:srgbClr val="000000"/>
                </a:solidFill>
                <a:latin typeface="Arial"/>
              </a:rPr>
              <a:t>maken</a:t>
            </a:r>
            <a:r>
              <a:rPr sz="1500" b="0">
                <a:solidFill>
                  <a:srgbClr val="000000"/>
                </a:solidFill>
                <a:latin typeface="Arial"/>
              </a:rPr>
              <a:t> met wat ik heb?</a:t>
            </a:r>
          </a:p>
        </p:txBody>
      </p:sp>
      <p:sp>
        <p:nvSpPr>
          <p:cNvPr id="21" name="Rectangle 20"/>
          <p:cNvSpPr/>
          <p:nvPr/>
        </p:nvSpPr>
        <p:spPr>
          <a:xfrm>
            <a:off x="822960" y="4398264"/>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4440" y="4261104"/>
            <a:ext cx="10241280" cy="457200"/>
          </a:xfrm>
          <a:prstGeom prst="rect">
            <a:avLst/>
          </a:prstGeom>
          <a:noFill/>
        </p:spPr>
        <p:txBody>
          <a:bodyPr wrap="square" anchor="t" lIns="0" rIns="0" tIns="0" bIns="0">
            <a:spAutoFit/>
          </a:bodyPr>
          <a:lstStyle/>
          <a:p>
            <a:pPr algn="l">
              <a:lnSpc>
                <a:spcPct val="110000"/>
              </a:lnSpc>
            </a:pPr>
            <a:r>
              <a:rPr sz="1500" b="0">
                <a:solidFill>
                  <a:srgbClr val="000000"/>
                </a:solidFill>
                <a:latin typeface="Arial"/>
              </a:rPr>
              <a:t>Draagt het mijn </a:t>
            </a:r>
            <a:r>
              <a:rPr sz="1500" b="1">
                <a:solidFill>
                  <a:srgbClr val="000000"/>
                </a:solidFill>
                <a:latin typeface="Arial"/>
              </a:rPr>
              <a:t>onderbouwing</a:t>
            </a:r>
            <a:r>
              <a:rPr sz="1500" b="0">
                <a:solidFill>
                  <a:srgbClr val="000000"/>
                </a:solidFill>
                <a:latin typeface="Arial"/>
              </a:rPr>
              <a:t>?</a:t>
            </a:r>
          </a:p>
        </p:txBody>
      </p:sp>
      <p:sp>
        <p:nvSpPr>
          <p:cNvPr id="23" name="Rectangle 22"/>
          <p:cNvSpPr/>
          <p:nvPr/>
        </p:nvSpPr>
        <p:spPr>
          <a:xfrm>
            <a:off x="822960" y="4873752"/>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4736592"/>
            <a:ext cx="10241280" cy="457200"/>
          </a:xfrm>
          <a:prstGeom prst="rect">
            <a:avLst/>
          </a:prstGeom>
          <a:noFill/>
        </p:spPr>
        <p:txBody>
          <a:bodyPr wrap="square" anchor="t" lIns="0" rIns="0" tIns="0" bIns="0">
            <a:spAutoFit/>
          </a:bodyPr>
          <a:lstStyle/>
          <a:p>
            <a:pPr algn="l">
              <a:lnSpc>
                <a:spcPct val="110000"/>
              </a:lnSpc>
            </a:pPr>
            <a:r>
              <a:rPr sz="1500" b="0">
                <a:solidFill>
                  <a:srgbClr val="000000"/>
                </a:solidFill>
                <a:latin typeface="Arial"/>
              </a:rPr>
              <a:t>Durft mijn opdrachtgever dit </a:t>
            </a:r>
            <a:r>
              <a:rPr sz="1500" b="1">
                <a:solidFill>
                  <a:srgbClr val="000000"/>
                </a:solidFill>
                <a:latin typeface="Arial"/>
              </a:rPr>
              <a:t>door te sturen</a:t>
            </a:r>
            <a:r>
              <a:rPr sz="1500" b="0">
                <a:solidFill>
                  <a:srgbClr val="000000"/>
                </a:solidFill>
                <a:latin typeface="Arial"/>
              </a:rPr>
              <a:t>?</a:t>
            </a:r>
          </a:p>
        </p:txBody>
      </p:sp>
      <p:sp>
        <p:nvSpPr>
          <p:cNvPr id="25" name="TextBox 24"/>
          <p:cNvSpPr txBox="1"/>
          <p:nvPr/>
        </p:nvSpPr>
        <p:spPr>
          <a:xfrm>
            <a:off x="822960" y="5486400"/>
            <a:ext cx="10515600" cy="640080"/>
          </a:xfrm>
          <a:prstGeom prst="rect">
            <a:avLst/>
          </a:prstGeom>
          <a:noFill/>
        </p:spPr>
        <p:txBody>
          <a:bodyPr wrap="square" anchor="t" lIns="0" rIns="0" tIns="0" bIns="0">
            <a:spAutoFit/>
          </a:bodyPr>
          <a:lstStyle/>
          <a:p>
            <a:pPr algn="l">
              <a:lnSpc>
                <a:spcPct val="95000"/>
              </a:lnSpc>
            </a:pPr>
            <a:r>
              <a:rPr sz="1800" b="1">
                <a:solidFill>
                  <a:srgbClr val="000000"/>
                </a:solidFill>
                <a:latin typeface="Arial"/>
              </a:rPr>
              <a:t>Die laatste komt uit vorige week. </a:t>
            </a:r>
            <a:r>
              <a:rPr sz="1800" b="1">
                <a:solidFill>
                  <a:srgbClr val="E50056"/>
                </a:solidFill>
                <a:latin typeface="Arial"/>
              </a:rPr>
              <a:t>Zonder doorsturen komt het nergens.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128930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1289304" cy="274320"/>
          </a:xfrm>
          <a:prstGeom prst="rect">
            <a:avLst/>
          </a:prstGeom>
          <a:noFill/>
        </p:spPr>
        <p:txBody>
          <a:bodyPr wrap="square" anchor="t" lIns="0" rIns="0" tIns="0" bIns="0">
            <a:spAutoFit/>
          </a:bodyPr>
          <a:lstStyle/>
          <a:p>
            <a:pPr algn="ctr">
              <a:lnSpc>
                <a:spcPct val="95000"/>
              </a:lnSpc>
            </a:pPr>
            <a:r>
              <a:rPr sz="1100" b="1">
                <a:solidFill>
                  <a:srgbClr val="000000"/>
                </a:solidFill>
                <a:latin typeface="Courier New"/>
              </a:rPr>
              <a:t>WERKVORM 6</a:t>
            </a:r>
          </a:p>
        </p:txBody>
      </p:sp>
      <p:sp>
        <p:nvSpPr>
          <p:cNvPr id="7" name="TextBox 6"/>
          <p:cNvSpPr txBox="1"/>
          <p:nvPr/>
        </p:nvSpPr>
        <p:spPr>
          <a:xfrm>
            <a:off x="3291840"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WERKBLAD 3, PAGINA 2</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7,5 MINUTEN</a:t>
            </a:r>
          </a:p>
        </p:txBody>
      </p:sp>
      <p:sp>
        <p:nvSpPr>
          <p:cNvPr id="9" name="Rectangle 8"/>
          <p:cNvSpPr/>
          <p:nvPr/>
        </p:nvSpPr>
        <p:spPr>
          <a:xfrm>
            <a:off x="0" y="6272784"/>
            <a:ext cx="12191695"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FFFFFF"/>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06 / 08</a:t>
            </a:r>
          </a:p>
        </p:txBody>
      </p:sp>
      <p:sp>
        <p:nvSpPr>
          <p:cNvPr id="13" name="Rectangle 12"/>
          <p:cNvSpPr/>
          <p:nvPr/>
        </p:nvSpPr>
        <p:spPr>
          <a:xfrm>
            <a:off x="822960" y="1143000"/>
            <a:ext cx="3873398"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225296"/>
            <a:ext cx="3873398" cy="228600"/>
          </a:xfrm>
          <a:prstGeom prst="rect">
            <a:avLst/>
          </a:prstGeom>
          <a:noFill/>
        </p:spPr>
        <p:txBody>
          <a:bodyPr wrap="square" anchor="t" lIns="0" rIns="0" tIns="0" bIns="0">
            <a:spAutoFit/>
          </a:bodyPr>
          <a:lstStyle/>
          <a:p>
            <a:pPr algn="l">
              <a:lnSpc>
                <a:spcPct val="95000"/>
              </a:lnSpc>
            </a:pPr>
            <a:r>
              <a:rPr sz="1000" b="1">
                <a:solidFill>
                  <a:srgbClr val="FFFFFF"/>
                </a:solidFill>
                <a:latin typeface="Courier New"/>
              </a:rPr>
              <a:t>4 MIN SCOREN EN KIEZEN · 3,5 MIN LATEN AANVALLEN</a:t>
            </a:r>
          </a:p>
        </p:txBody>
      </p:sp>
      <p:sp>
        <p:nvSpPr>
          <p:cNvPr id="15" name="TextBox 14"/>
          <p:cNvSpPr txBox="1"/>
          <p:nvPr/>
        </p:nvSpPr>
        <p:spPr>
          <a:xfrm>
            <a:off x="822960" y="1691640"/>
            <a:ext cx="10515600" cy="822960"/>
          </a:xfrm>
          <a:prstGeom prst="rect">
            <a:avLst/>
          </a:prstGeom>
          <a:noFill/>
        </p:spPr>
        <p:txBody>
          <a:bodyPr wrap="square" anchor="t" lIns="0" rIns="0" tIns="0" bIns="0">
            <a:spAutoFit/>
          </a:bodyPr>
          <a:lstStyle/>
          <a:p>
            <a:pPr algn="l">
              <a:lnSpc>
                <a:spcPct val="95000"/>
              </a:lnSpc>
            </a:pPr>
            <a:r>
              <a:rPr sz="3800" b="0">
                <a:solidFill>
                  <a:srgbClr val="FFFFFF"/>
                </a:solidFill>
                <a:latin typeface="Arial Black"/>
              </a:rPr>
              <a:t>KIES EN ONDERBOUW.</a:t>
            </a:r>
          </a:p>
        </p:txBody>
      </p:sp>
      <p:sp>
        <p:nvSpPr>
          <p:cNvPr id="16" name="Rectangle 15"/>
          <p:cNvSpPr/>
          <p:nvPr/>
        </p:nvSpPr>
        <p:spPr>
          <a:xfrm>
            <a:off x="822960" y="3200400"/>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300984"/>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01</a:t>
            </a:r>
          </a:p>
        </p:txBody>
      </p:sp>
      <p:sp>
        <p:nvSpPr>
          <p:cNvPr id="18" name="TextBox 17"/>
          <p:cNvSpPr txBox="1"/>
          <p:nvPr/>
        </p:nvSpPr>
        <p:spPr>
          <a:xfrm>
            <a:off x="1389888" y="3236976"/>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Scoor de vijf en </a:t>
            </a:r>
            <a:r>
              <a:rPr sz="1500" b="1">
                <a:solidFill>
                  <a:srgbClr val="FFFFFF"/>
                </a:solidFill>
                <a:latin typeface="Arial"/>
              </a:rPr>
              <a:t>kies er één</a:t>
            </a:r>
            <a:r>
              <a:rPr sz="1500" b="0">
                <a:solidFill>
                  <a:srgbClr val="FFFFFF"/>
                </a:solidFill>
                <a:latin typeface="Arial"/>
              </a:rPr>
              <a:t>. Waarom wint die van de andere vier?</a:t>
            </a:r>
          </a:p>
        </p:txBody>
      </p:sp>
      <p:sp>
        <p:nvSpPr>
          <p:cNvPr id="19" name="Rectangle 18"/>
          <p:cNvSpPr/>
          <p:nvPr/>
        </p:nvSpPr>
        <p:spPr>
          <a:xfrm>
            <a:off x="822960" y="3767328"/>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867912"/>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02</a:t>
            </a:r>
          </a:p>
        </p:txBody>
      </p:sp>
      <p:sp>
        <p:nvSpPr>
          <p:cNvPr id="21" name="TextBox 20"/>
          <p:cNvSpPr txBox="1"/>
          <p:nvPr/>
        </p:nvSpPr>
        <p:spPr>
          <a:xfrm>
            <a:off x="1389888" y="3803904"/>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Welk ontwerp </a:t>
            </a:r>
            <a:r>
              <a:rPr sz="1500" b="1">
                <a:solidFill>
                  <a:srgbClr val="FFFFFF"/>
                </a:solidFill>
                <a:latin typeface="Arial"/>
              </a:rPr>
              <a:t>valt als eerste af</a:t>
            </a:r>
            <a:r>
              <a:rPr sz="1500" b="0">
                <a:solidFill>
                  <a:srgbClr val="FFFFFF"/>
                </a:solidFill>
                <a:latin typeface="Arial"/>
              </a:rPr>
              <a:t>, en waarom precies?</a:t>
            </a:r>
          </a:p>
        </p:txBody>
      </p:sp>
      <p:sp>
        <p:nvSpPr>
          <p:cNvPr id="22" name="Rectangle 21"/>
          <p:cNvSpPr/>
          <p:nvPr/>
        </p:nvSpPr>
        <p:spPr>
          <a:xfrm>
            <a:off x="822960" y="4334256"/>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434840"/>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03</a:t>
            </a:r>
          </a:p>
        </p:txBody>
      </p:sp>
      <p:sp>
        <p:nvSpPr>
          <p:cNvPr id="24" name="TextBox 23"/>
          <p:cNvSpPr txBox="1"/>
          <p:nvPr/>
        </p:nvSpPr>
        <p:spPr>
          <a:xfrm>
            <a:off x="1389888" y="4370832"/>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Leg het voor aan een </a:t>
            </a:r>
            <a:r>
              <a:rPr sz="1500" b="1">
                <a:solidFill>
                  <a:srgbClr val="FFFFFF"/>
                </a:solidFill>
                <a:latin typeface="Arial"/>
              </a:rPr>
              <a:t>medestudent</a:t>
            </a:r>
            <a:r>
              <a:rPr sz="1500" b="0">
                <a:solidFill>
                  <a:srgbClr val="FFFFFF"/>
                </a:solidFill>
                <a:latin typeface="Arial"/>
              </a:rPr>
              <a:t> en laat die je onderbouwing aanvallen.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809244"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809244"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DELEN</a:t>
            </a:r>
          </a:p>
        </p:txBody>
      </p:sp>
      <p:sp>
        <p:nvSpPr>
          <p:cNvPr id="7" name="TextBox 6"/>
          <p:cNvSpPr txBox="1"/>
          <p:nvPr/>
        </p:nvSpPr>
        <p:spPr>
          <a:xfrm>
            <a:off x="2811780"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04 · WAT LIET JE VALLEN?</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3 PITCHES</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07 / 08</a:t>
            </a:r>
          </a:p>
        </p:txBody>
      </p:sp>
      <p:sp>
        <p:nvSpPr>
          <p:cNvPr id="13" name="TextBox 12"/>
          <p:cNvSpPr txBox="1"/>
          <p:nvPr/>
        </p:nvSpPr>
        <p:spPr>
          <a:xfrm>
            <a:off x="822960" y="1188720"/>
            <a:ext cx="10515600" cy="82296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WAT HEB JE LATEN VALLEN?</a:t>
            </a:r>
          </a:p>
        </p:txBody>
      </p:sp>
      <p:sp>
        <p:nvSpPr>
          <p:cNvPr id="14" name="Rectangle 13"/>
          <p:cNvSpPr/>
          <p:nvPr/>
        </p:nvSpPr>
        <p:spPr>
          <a:xfrm>
            <a:off x="822960" y="228600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2926079"/>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788920"/>
            <a:ext cx="1024128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Vertel niet wat je koos, maar </a:t>
            </a:r>
            <a:r>
              <a:rPr sz="1600" b="1">
                <a:solidFill>
                  <a:srgbClr val="000000"/>
                </a:solidFill>
                <a:latin typeface="Arial"/>
              </a:rPr>
              <a:t>wat je liet vallen</a:t>
            </a:r>
            <a:r>
              <a:rPr sz="1600" b="0">
                <a:solidFill>
                  <a:srgbClr val="000000"/>
                </a:solidFill>
                <a:latin typeface="Arial"/>
              </a:rPr>
              <a:t>, en waarom.</a:t>
            </a:r>
          </a:p>
        </p:txBody>
      </p:sp>
      <p:sp>
        <p:nvSpPr>
          <p:cNvPr id="17" name="Rectangle 16"/>
          <p:cNvSpPr/>
          <p:nvPr/>
        </p:nvSpPr>
        <p:spPr>
          <a:xfrm>
            <a:off x="822960" y="3493008"/>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355848"/>
            <a:ext cx="1024128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Daar zit je </a:t>
            </a:r>
            <a:r>
              <a:rPr sz="1600" b="1">
                <a:solidFill>
                  <a:srgbClr val="000000"/>
                </a:solidFill>
                <a:latin typeface="Arial"/>
              </a:rPr>
              <a:t>criterium</a:t>
            </a:r>
            <a:r>
              <a:rPr sz="1600" b="0">
                <a:solidFill>
                  <a:srgbClr val="000000"/>
                </a:solidFill>
                <a:latin typeface="Arial"/>
              </a:rPr>
              <a:t> in, en dat is het interessante deel.</a:t>
            </a:r>
          </a:p>
        </p:txBody>
      </p:sp>
      <p:sp>
        <p:nvSpPr>
          <p:cNvPr id="19" name="Rectangle 18"/>
          <p:cNvSpPr/>
          <p:nvPr/>
        </p:nvSpPr>
        <p:spPr>
          <a:xfrm>
            <a:off x="822960" y="4059935"/>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922776"/>
            <a:ext cx="1024128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Was dat ontwerp </a:t>
            </a:r>
            <a:r>
              <a:rPr sz="1600" b="1">
                <a:solidFill>
                  <a:srgbClr val="000000"/>
                </a:solidFill>
                <a:latin typeface="Arial"/>
              </a:rPr>
              <a:t>slecht</a:t>
            </a:r>
            <a:r>
              <a:rPr sz="1600" b="0">
                <a:solidFill>
                  <a:srgbClr val="000000"/>
                </a:solidFill>
                <a:latin typeface="Arial"/>
              </a:rPr>
              <a:t>, of paste het niet bij deze lezer?</a:t>
            </a:r>
          </a:p>
        </p:txBody>
      </p:sp>
      <p:sp>
        <p:nvSpPr>
          <p:cNvPr id="21" name="TextBox 20"/>
          <p:cNvSpPr txBox="1"/>
          <p:nvPr/>
        </p:nvSpPr>
        <p:spPr>
          <a:xfrm>
            <a:off x="822960" y="4846320"/>
            <a:ext cx="10515600" cy="640080"/>
          </a:xfrm>
          <a:prstGeom prst="rect">
            <a:avLst/>
          </a:prstGeom>
          <a:noFill/>
        </p:spPr>
        <p:txBody>
          <a:bodyPr wrap="square" anchor="t" lIns="0" rIns="0" tIns="0" bIns="0">
            <a:spAutoFit/>
          </a:bodyPr>
          <a:lstStyle/>
          <a:p>
            <a:pPr algn="l">
              <a:lnSpc>
                <a:spcPct val="95000"/>
              </a:lnSpc>
            </a:pPr>
            <a:r>
              <a:rPr sz="1900" b="1">
                <a:solidFill>
                  <a:srgbClr val="000000"/>
                </a:solidFill>
                <a:latin typeface="Arial"/>
              </a:rPr>
              <a:t>Dat onderscheid is precies wat criterium 6 van je vraagt.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905256"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905256"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WAT NU</a:t>
            </a:r>
          </a:p>
        </p:txBody>
      </p:sp>
      <p:sp>
        <p:nvSpPr>
          <p:cNvPr id="7" name="TextBox 6"/>
          <p:cNvSpPr txBox="1"/>
          <p:nvPr/>
        </p:nvSpPr>
        <p:spPr>
          <a:xfrm>
            <a:off x="2907791"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IN JE PLAN VAN AANPAK</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TOT SLOT</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08 / 08</a:t>
            </a:r>
          </a:p>
        </p:txBody>
      </p:sp>
      <p:sp>
        <p:nvSpPr>
          <p:cNvPr id="13" name="TextBox 12"/>
          <p:cNvSpPr txBox="1"/>
          <p:nvPr/>
        </p:nvSpPr>
        <p:spPr>
          <a:xfrm>
            <a:off x="822960" y="1280160"/>
            <a:ext cx="10515600" cy="1828800"/>
          </a:xfrm>
          <a:prstGeom prst="rect">
            <a:avLst/>
          </a:prstGeom>
          <a:noFill/>
        </p:spPr>
        <p:txBody>
          <a:bodyPr wrap="square" anchor="t" lIns="0" rIns="0" tIns="0" bIns="0">
            <a:spAutoFit/>
          </a:bodyPr>
          <a:lstStyle/>
          <a:p>
            <a:pPr algn="l">
              <a:lnSpc>
                <a:spcPct val="95000"/>
              </a:lnSpc>
            </a:pPr>
            <a:r>
              <a:rPr sz="3200" b="0">
                <a:solidFill>
                  <a:srgbClr val="000000"/>
                </a:solidFill>
                <a:latin typeface="Arial Black"/>
              </a:rPr>
              <a:t>EEN ONTWERP DAT JE NIET</a:t>
            </a:r>
          </a:p>
          <a:p>
            <a:pPr algn="l">
              <a:lnSpc>
                <a:spcPct val="95000"/>
              </a:lnSpc>
            </a:pPr>
            <a:r>
              <a:rPr sz="3200" b="0">
                <a:solidFill>
                  <a:srgbClr val="000000"/>
                </a:solidFill>
                <a:latin typeface="Arial Black"/>
              </a:rPr>
              <a:t>KUNT UITLEGGEN, IS</a:t>
            </a:r>
          </a:p>
          <a:p>
            <a:pPr algn="l">
              <a:lnSpc>
                <a:spcPct val="95000"/>
              </a:lnSpc>
            </a:pPr>
            <a:r>
              <a:rPr sz="3200" b="0">
                <a:solidFill>
                  <a:srgbClr val="E50056"/>
                </a:solidFill>
                <a:latin typeface="Arial Black"/>
              </a:rPr>
              <a:t>NIET JOUW ONTWERP.</a:t>
            </a:r>
          </a:p>
        </p:txBody>
      </p:sp>
      <p:sp>
        <p:nvSpPr>
          <p:cNvPr id="14" name="Rectangle 13"/>
          <p:cNvSpPr/>
          <p:nvPr/>
        </p:nvSpPr>
        <p:spPr>
          <a:xfrm>
            <a:off x="822960" y="3931920"/>
            <a:ext cx="10515600"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434840"/>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4297680"/>
            <a:ext cx="10241280" cy="457200"/>
          </a:xfrm>
          <a:prstGeom prst="rect">
            <a:avLst/>
          </a:prstGeom>
          <a:noFill/>
        </p:spPr>
        <p:txBody>
          <a:bodyPr wrap="square" anchor="t" lIns="0" rIns="0" tIns="0" bIns="0">
            <a:spAutoFit/>
          </a:bodyPr>
          <a:lstStyle/>
          <a:p>
            <a:pPr algn="l">
              <a:lnSpc>
                <a:spcPct val="110000"/>
              </a:lnSpc>
            </a:pPr>
            <a:r>
              <a:rPr sz="1500" b="0">
                <a:solidFill>
                  <a:srgbClr val="000000"/>
                </a:solidFill>
                <a:latin typeface="Arial"/>
              </a:rPr>
              <a:t>Zet je </a:t>
            </a:r>
            <a:r>
              <a:rPr sz="1500" b="1">
                <a:solidFill>
                  <a:srgbClr val="000000"/>
                </a:solidFill>
                <a:latin typeface="Arial"/>
              </a:rPr>
              <a:t>keuze en onderbouwing</a:t>
            </a:r>
            <a:r>
              <a:rPr sz="1500" b="0">
                <a:solidFill>
                  <a:srgbClr val="000000"/>
                </a:solidFill>
                <a:latin typeface="Arial"/>
              </a:rPr>
              <a:t> in je plan van aanpak.</a:t>
            </a:r>
          </a:p>
        </p:txBody>
      </p:sp>
      <p:sp>
        <p:nvSpPr>
          <p:cNvPr id="17" name="Rectangle 16"/>
          <p:cNvSpPr/>
          <p:nvPr/>
        </p:nvSpPr>
        <p:spPr>
          <a:xfrm>
            <a:off x="822960" y="5120640"/>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4983480"/>
            <a:ext cx="10241280" cy="457200"/>
          </a:xfrm>
          <a:prstGeom prst="rect">
            <a:avLst/>
          </a:prstGeom>
          <a:noFill/>
        </p:spPr>
        <p:txBody>
          <a:bodyPr wrap="square" anchor="t" lIns="0" rIns="0" tIns="0" bIns="0">
            <a:spAutoFit/>
          </a:bodyPr>
          <a:lstStyle/>
          <a:p>
            <a:pPr algn="l">
              <a:lnSpc>
                <a:spcPct val="110000"/>
              </a:lnSpc>
            </a:pPr>
            <a:r>
              <a:rPr sz="1500" b="0">
                <a:solidFill>
                  <a:srgbClr val="000000"/>
                </a:solidFill>
                <a:latin typeface="Arial"/>
              </a:rPr>
              <a:t>Vermeld dat je AI gebruikte om alternatieven te genereren. Dat is </a:t>
            </a:r>
            <a:r>
              <a:rPr sz="1500" b="1">
                <a:solidFill>
                  <a:srgbClr val="000000"/>
                </a:solidFill>
                <a:latin typeface="Arial"/>
              </a:rPr>
              <a:t>methodeverantwoording</a:t>
            </a:r>
            <a:r>
              <a:rPr sz="1500" b="0">
                <a:solidFill>
                  <a:srgbClr val="000000"/>
                </a:solidFill>
                <a:latin typeface="Arial"/>
              </a:rPr>
              <a:t>, geen schande.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