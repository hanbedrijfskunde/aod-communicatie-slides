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Welkom terug. Vorige keer keek je naar je opdrachtgever. Vandaag gaan we een stap verder, en die is wat lastiger. Want jouw advies stopt niet bij je opdrachtgever. OPENINGSVRAAG: wie denkt dat zijn opdrachtgever het advies helemaal in zijn eentje kan uitvoeren?  [0:00 - 1:30]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opdrachtgever gaat jouw advies niet in zijn eentje uitvoeren. Hij heeft geld nodig, of een handtekening, of mensen. Dus hij moet anderen meekrijgen, en daarvoor gebruikt hij jouw werk. Jij schrijft dus niet voor een lezer: je rust er een uit om anderen te overtuigen.  [1:30 - 4:30]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Iedere volgende lezer stelt een andere eerste vraag. De financieel directeur wil weten wat het kost. De directie wil weten waarom nu. HR denkt aan mensen. De teamleider wil weten wat er morgen verandert. De OR kijkt of het eerlijk is. En IT vraagt zich af of het uberhaupt kan. Zes lezers, zes verschillende eerste vragen. Jouw product beantwoordt er nu waarschijnlijk een of twee.  [4:30 - 7:30]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Pak werkblad 2 erbij. Vijf minuten in je eentje: noteer drie personen of rollen, de context waarin je opdrachtgever het met ze deelt, en de eerste vraag die zij stellen. Daarna drie minuten in tweetallen. Vraag door als iemand alleen functies opschrijft zonder context, want daar zit de waarde. In de HTML-versie start je met W een aftelklok van 8 minuten.  [7:30 - 15:30]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Dit is waar het deze sessie om draait. Wat je opdrachtgever doorstuurt is nooit je hele product. Het is een pagina, een screenshot van een grafiek, of een zin in een mail. Onderweg raakt er dus altijd iets kwijt. De vraag is of jij kiest wat er doorreist, of dat je dat aan het toeval overlaat. Kies jij niet, dan kiest iemand anders, en meestal het verkeerde.  [15:30 - 18:00]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Laatste ronde. Kies een van de drie personen uit je ketting. Bedenk wat jouw opdrachtgever aan die persoon moet kunnen laten zien: een pagina, een cijfer, een plaatje. Schets dat op werkblad 2 en schrijf de zin erbij die je opdrachtgever erover zegt, want dat dwingt je scherp te zijn. Toets het daarna bij iemand anders.  [18:00 - 26:00]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Wie laat zijn fragment zien? Drie mensen, dertig seconden. Zeg: voor wie is het, in welke context komt het langs, en welke vraag moet het beantwoorden. Vraag daarna aan de groep of ze die vraag inderdaad beantwoord zien.  [26:00 - 28:30]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Zet je ketting in je plan van aanpak of in je verantwoording: wie krijgt het na je opdrachtgever, in welke context, en wat heb je voor die persoon gemaakt. Twee of drie regels is genoeg. En vraag het je opdrachtgever gewoon: met wie ga jij dit delen? Dat is meteen een goed gesprek.  [28:30 - 30:00]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TextBox 4"/>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MINI-WERKCOLLEGE 2 · 30 MINUTEN</a:t>
            </a:r>
          </a:p>
        </p:txBody>
      </p:sp>
      <p:sp>
        <p:nvSpPr>
          <p:cNvPr id="6" name="Rectangle 5"/>
          <p:cNvSpPr/>
          <p:nvPr/>
        </p:nvSpPr>
        <p:spPr>
          <a:xfrm>
            <a:off x="0" y="6272784"/>
            <a:ext cx="12191695" cy="18288"/>
          </a:xfrm>
          <a:prstGeom prst="rect">
            <a:avLst/>
          </a:prstGeom>
          <a:solidFill>
            <a:srgbClr val="45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BEDRIJFSKUNDE</a:t>
            </a:r>
          </a:p>
        </p:txBody>
      </p:sp>
      <p:sp>
        <p:nvSpPr>
          <p:cNvPr id="9" name="TextBox 8"/>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FFFFFF"/>
                </a:solidFill>
                <a:latin typeface="Courier New"/>
              </a:rPr>
              <a:t>01 / 08</a:t>
            </a:r>
          </a:p>
        </p:txBody>
      </p:sp>
      <p:sp>
        <p:nvSpPr>
          <p:cNvPr id="10" name="TextBox 9"/>
          <p:cNvSpPr txBox="1"/>
          <p:nvPr/>
        </p:nvSpPr>
        <p:spPr>
          <a:xfrm>
            <a:off x="822960" y="1143000"/>
            <a:ext cx="10058400" cy="365760"/>
          </a:xfrm>
          <a:prstGeom prst="rect">
            <a:avLst/>
          </a:prstGeom>
          <a:noFill/>
        </p:spPr>
        <p:txBody>
          <a:bodyPr wrap="square" anchor="t" lIns="0" rIns="0" tIns="0" bIns="0">
            <a:spAutoFit/>
          </a:bodyPr>
          <a:lstStyle/>
          <a:p>
            <a:pPr algn="l">
              <a:lnSpc>
                <a:spcPct val="95000"/>
              </a:lnSpc>
            </a:pPr>
            <a:r>
              <a:rPr sz="1300" b="1">
                <a:solidFill>
                  <a:srgbClr val="E50056"/>
                </a:solidFill>
                <a:latin typeface="Courier New"/>
              </a:rPr>
              <a:t>AFSTUDEEROPDRACHT  ·  JE EINDPRODUCT  ·  DEEL 2</a:t>
            </a:r>
          </a:p>
        </p:txBody>
      </p:sp>
      <p:sp>
        <p:nvSpPr>
          <p:cNvPr id="11" name="TextBox 10"/>
          <p:cNvSpPr txBox="1"/>
          <p:nvPr/>
        </p:nvSpPr>
        <p:spPr>
          <a:xfrm>
            <a:off x="822960" y="1691640"/>
            <a:ext cx="10515600" cy="3291840"/>
          </a:xfrm>
          <a:prstGeom prst="rect">
            <a:avLst/>
          </a:prstGeom>
          <a:noFill/>
        </p:spPr>
        <p:txBody>
          <a:bodyPr wrap="square" anchor="t" lIns="0" rIns="0" tIns="0" bIns="0">
            <a:spAutoFit/>
          </a:bodyPr>
          <a:lstStyle/>
          <a:p>
            <a:pPr algn="l">
              <a:lnSpc>
                <a:spcPct val="92000"/>
              </a:lnSpc>
            </a:pPr>
            <a:r>
              <a:rPr sz="5800" b="0">
                <a:solidFill>
                  <a:srgbClr val="FFFFFF"/>
                </a:solidFill>
                <a:latin typeface="Arial Black"/>
              </a:rPr>
              <a:t>WAAR GAAT</a:t>
            </a:r>
          </a:p>
          <a:p>
            <a:pPr algn="l">
              <a:lnSpc>
                <a:spcPct val="92000"/>
              </a:lnSpc>
            </a:pPr>
            <a:r>
              <a:rPr sz="5800" b="0">
                <a:solidFill>
                  <a:srgbClr val="FFFFFF"/>
                </a:solidFill>
                <a:latin typeface="Arial Black"/>
              </a:rPr>
              <a:t>JOUW ADVIES</a:t>
            </a:r>
          </a:p>
          <a:p>
            <a:pPr algn="l">
              <a:lnSpc>
                <a:spcPct val="92000"/>
              </a:lnSpc>
            </a:pPr>
            <a:r>
              <a:rPr sz="5800" b="0">
                <a:solidFill>
                  <a:srgbClr val="E50056"/>
                </a:solidFill>
                <a:latin typeface="Arial Black"/>
              </a:rPr>
              <a:t>HEEN?</a:t>
            </a:r>
          </a:p>
        </p:txBody>
      </p:sp>
      <p:sp>
        <p:nvSpPr>
          <p:cNvPr id="12" name="TextBox 11"/>
          <p:cNvSpPr txBox="1"/>
          <p:nvPr/>
        </p:nvSpPr>
        <p:spPr>
          <a:xfrm>
            <a:off x="822960" y="5120640"/>
            <a:ext cx="8961120" cy="822960"/>
          </a:xfrm>
          <a:prstGeom prst="rect">
            <a:avLst/>
          </a:prstGeom>
          <a:noFill/>
        </p:spPr>
        <p:txBody>
          <a:bodyPr wrap="square" anchor="t" lIns="0" rIns="0" tIns="0" bIns="0">
            <a:spAutoFit/>
          </a:bodyPr>
          <a:lstStyle/>
          <a:p>
            <a:pPr algn="l">
              <a:lnSpc>
                <a:spcPct val="95000"/>
              </a:lnSpc>
            </a:pPr>
            <a:r>
              <a:rPr sz="1900" b="0">
                <a:solidFill>
                  <a:srgbClr val="E3E3E3"/>
                </a:solidFill>
                <a:latin typeface="Arial"/>
              </a:rPr>
              <a:t>Vorige keer keek je naar je opdrachtgever. Nu naar iedereen die daarna komt.</a:t>
            </a:r>
          </a:p>
        </p:txBody>
      </p:sp>
      <p:sp>
        <p:nvSpPr>
          <p:cNvPr id="13" name="TextBox 12"/>
          <p:cNvSpPr txBox="1"/>
          <p:nvPr/>
        </p:nvSpPr>
        <p:spPr>
          <a:xfrm>
            <a:off x="6675120" y="5852160"/>
            <a:ext cx="5056632" cy="320040"/>
          </a:xfrm>
          <a:prstGeom prst="rect">
            <a:avLst/>
          </a:prstGeom>
          <a:noFill/>
        </p:spPr>
        <p:txBody>
          <a:bodyPr wrap="square" anchor="t" lIns="0" rIns="0" tIns="0" bIns="0">
            <a:spAutoFit/>
          </a:bodyPr>
          <a:lstStyle/>
          <a:p>
            <a:pPr algn="r">
              <a:lnSpc>
                <a:spcPct val="95000"/>
              </a:lnSpc>
            </a:pPr>
            <a:r>
              <a:rPr sz="1100" b="0">
                <a:solidFill>
                  <a:srgbClr val="919191"/>
                </a:solidFill>
                <a:latin typeface="Courier New"/>
              </a:rPr>
              <a:t>Judith  &amp;  Witek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713232" cy="78638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713232" cy="274320"/>
          </a:xfrm>
          <a:prstGeom prst="rect">
            <a:avLst/>
          </a:prstGeom>
          <a:noFill/>
        </p:spPr>
        <p:txBody>
          <a:bodyPr wrap="square" anchor="t" lIns="0" rIns="0" tIns="0" bIns="0">
            <a:spAutoFit/>
          </a:bodyPr>
          <a:lstStyle/>
          <a:p>
            <a:pPr algn="ctr">
              <a:lnSpc>
                <a:spcPct val="95000"/>
              </a:lnSpc>
            </a:pPr>
            <a:r>
              <a:rPr sz="1100" b="1">
                <a:solidFill>
                  <a:srgbClr val="FFFFFF"/>
                </a:solidFill>
                <a:latin typeface="Courier New"/>
              </a:rPr>
              <a:t>KERN</a:t>
            </a:r>
          </a:p>
        </p:txBody>
      </p:sp>
      <p:sp>
        <p:nvSpPr>
          <p:cNvPr id="7" name="TextBox 6"/>
          <p:cNvSpPr txBox="1"/>
          <p:nvPr/>
        </p:nvSpPr>
        <p:spPr>
          <a:xfrm>
            <a:off x="2715768"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01 · DE KETTING</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NIET HET EINDPUNT</a:t>
            </a:r>
          </a:p>
        </p:txBody>
      </p:sp>
      <p:sp>
        <p:nvSpPr>
          <p:cNvPr id="9" name="Rectangle 8"/>
          <p:cNvSpPr/>
          <p:nvPr/>
        </p:nvSpPr>
        <p:spPr>
          <a:xfrm>
            <a:off x="0" y="6272784"/>
            <a:ext cx="12191695"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757575"/>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000000"/>
                </a:solidFill>
                <a:latin typeface="Courier New"/>
              </a:rPr>
              <a:t>02 / 08</a:t>
            </a:r>
          </a:p>
        </p:txBody>
      </p:sp>
      <p:sp>
        <p:nvSpPr>
          <p:cNvPr id="13" name="TextBox 12"/>
          <p:cNvSpPr txBox="1"/>
          <p:nvPr/>
        </p:nvSpPr>
        <p:spPr>
          <a:xfrm>
            <a:off x="822960" y="1097280"/>
            <a:ext cx="10515600" cy="1280160"/>
          </a:xfrm>
          <a:prstGeom prst="rect">
            <a:avLst/>
          </a:prstGeom>
          <a:noFill/>
        </p:spPr>
        <p:txBody>
          <a:bodyPr wrap="square" anchor="t" lIns="0" rIns="0" tIns="0" bIns="0">
            <a:spAutoFit/>
          </a:bodyPr>
          <a:lstStyle/>
          <a:p>
            <a:pPr algn="l">
              <a:lnSpc>
                <a:spcPct val="95000"/>
              </a:lnSpc>
            </a:pPr>
            <a:r>
              <a:rPr sz="3400" b="0">
                <a:solidFill>
                  <a:srgbClr val="000000"/>
                </a:solidFill>
                <a:latin typeface="Arial Black"/>
              </a:rPr>
              <a:t>JE OPDRACHTGEVER IS</a:t>
            </a:r>
          </a:p>
          <a:p>
            <a:pPr algn="l">
              <a:lnSpc>
                <a:spcPct val="95000"/>
              </a:lnSpc>
            </a:pPr>
            <a:r>
              <a:rPr sz="3400" b="0">
                <a:solidFill>
                  <a:srgbClr val="000000"/>
                </a:solidFill>
                <a:latin typeface="Arial Black"/>
              </a:rPr>
              <a:t>EEN DOORGEEFLUIK.</a:t>
            </a:r>
          </a:p>
        </p:txBody>
      </p:sp>
      <p:sp>
        <p:nvSpPr>
          <p:cNvPr id="14" name="Rectangle 13"/>
          <p:cNvSpPr/>
          <p:nvPr/>
        </p:nvSpPr>
        <p:spPr>
          <a:xfrm>
            <a:off x="822960" y="2468880"/>
            <a:ext cx="10515600" cy="5029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3063240"/>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 y="2926080"/>
            <a:ext cx="10058400" cy="457200"/>
          </a:xfrm>
          <a:prstGeom prst="rect">
            <a:avLst/>
          </a:prstGeom>
          <a:noFill/>
        </p:spPr>
        <p:txBody>
          <a:bodyPr wrap="square" anchor="t" lIns="0" rIns="0" tIns="0" bIns="0">
            <a:spAutoFit/>
          </a:bodyPr>
          <a:lstStyle/>
          <a:p>
            <a:pPr algn="l">
              <a:lnSpc>
                <a:spcPct val="110000"/>
              </a:lnSpc>
            </a:pPr>
            <a:r>
              <a:rPr sz="1600" b="0">
                <a:solidFill>
                  <a:srgbClr val="000000"/>
                </a:solidFill>
                <a:latin typeface="Arial"/>
              </a:rPr>
              <a:t>Hij voert jouw advies </a:t>
            </a:r>
            <a:r>
              <a:rPr sz="1600" b="1">
                <a:solidFill>
                  <a:srgbClr val="000000"/>
                </a:solidFill>
                <a:latin typeface="Arial"/>
              </a:rPr>
              <a:t>niet in zijn eentje</a:t>
            </a:r>
            <a:r>
              <a:rPr sz="1600" b="0">
                <a:solidFill>
                  <a:srgbClr val="000000"/>
                </a:solidFill>
                <a:latin typeface="Arial"/>
              </a:rPr>
              <a:t> uit.</a:t>
            </a:r>
          </a:p>
        </p:txBody>
      </p:sp>
      <p:sp>
        <p:nvSpPr>
          <p:cNvPr id="17" name="Rectangle 16"/>
          <p:cNvSpPr/>
          <p:nvPr/>
        </p:nvSpPr>
        <p:spPr>
          <a:xfrm>
            <a:off x="822960" y="3630168"/>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34440" y="3493008"/>
            <a:ext cx="10058400" cy="457200"/>
          </a:xfrm>
          <a:prstGeom prst="rect">
            <a:avLst/>
          </a:prstGeom>
          <a:noFill/>
        </p:spPr>
        <p:txBody>
          <a:bodyPr wrap="square" anchor="t" lIns="0" rIns="0" tIns="0" bIns="0">
            <a:spAutoFit/>
          </a:bodyPr>
          <a:lstStyle/>
          <a:p>
            <a:pPr algn="l">
              <a:lnSpc>
                <a:spcPct val="110000"/>
              </a:lnSpc>
            </a:pPr>
            <a:r>
              <a:rPr sz="1600" b="0">
                <a:solidFill>
                  <a:srgbClr val="000000"/>
                </a:solidFill>
                <a:latin typeface="Arial"/>
              </a:rPr>
              <a:t>Hij moet anderen meekrijgen: voor </a:t>
            </a:r>
            <a:r>
              <a:rPr sz="1600" b="1">
                <a:solidFill>
                  <a:srgbClr val="000000"/>
                </a:solidFill>
                <a:latin typeface="Arial"/>
              </a:rPr>
              <a:t>geld, akkoord en mensen</a:t>
            </a:r>
            <a:r>
              <a:rPr sz="1600" b="0">
                <a:solidFill>
                  <a:srgbClr val="000000"/>
                </a:solidFill>
                <a:latin typeface="Arial"/>
              </a:rPr>
              <a:t>.</a:t>
            </a:r>
          </a:p>
        </p:txBody>
      </p:sp>
      <p:sp>
        <p:nvSpPr>
          <p:cNvPr id="19" name="Rectangle 18"/>
          <p:cNvSpPr/>
          <p:nvPr/>
        </p:nvSpPr>
        <p:spPr>
          <a:xfrm>
            <a:off x="822960" y="4197096"/>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4059936"/>
            <a:ext cx="10058400" cy="457200"/>
          </a:xfrm>
          <a:prstGeom prst="rect">
            <a:avLst/>
          </a:prstGeom>
          <a:noFill/>
        </p:spPr>
        <p:txBody>
          <a:bodyPr wrap="square" anchor="t" lIns="0" rIns="0" tIns="0" bIns="0">
            <a:spAutoFit/>
          </a:bodyPr>
          <a:lstStyle/>
          <a:p>
            <a:pPr algn="l">
              <a:lnSpc>
                <a:spcPct val="110000"/>
              </a:lnSpc>
            </a:pPr>
            <a:r>
              <a:rPr sz="1600" b="0">
                <a:solidFill>
                  <a:srgbClr val="000000"/>
                </a:solidFill>
                <a:latin typeface="Arial"/>
              </a:rPr>
              <a:t>Wat hij doorgeeft, </a:t>
            </a:r>
            <a:r>
              <a:rPr sz="1600" b="1">
                <a:solidFill>
                  <a:srgbClr val="000000"/>
                </a:solidFill>
                <a:latin typeface="Arial"/>
              </a:rPr>
              <a:t>bepaalt of er iets gebeurt</a:t>
            </a:r>
            <a:r>
              <a:rPr sz="1600" b="0">
                <a:solidFill>
                  <a:srgbClr val="000000"/>
                </a:solidFill>
                <a:latin typeface="Arial"/>
              </a:rPr>
              <a:t>.</a:t>
            </a:r>
          </a:p>
        </p:txBody>
      </p:sp>
      <p:sp>
        <p:nvSpPr>
          <p:cNvPr id="21" name="TextBox 20"/>
          <p:cNvSpPr txBox="1"/>
          <p:nvPr/>
        </p:nvSpPr>
        <p:spPr>
          <a:xfrm>
            <a:off x="822960" y="4983480"/>
            <a:ext cx="10515600" cy="914400"/>
          </a:xfrm>
          <a:prstGeom prst="rect">
            <a:avLst/>
          </a:prstGeom>
          <a:noFill/>
        </p:spPr>
        <p:txBody>
          <a:bodyPr wrap="square" anchor="t" lIns="0" rIns="0" tIns="0" bIns="0">
            <a:spAutoFit/>
          </a:bodyPr>
          <a:lstStyle/>
          <a:p>
            <a:pPr algn="l">
              <a:lnSpc>
                <a:spcPct val="115000"/>
              </a:lnSpc>
            </a:pPr>
            <a:r>
              <a:rPr sz="2000" b="1">
                <a:solidFill>
                  <a:srgbClr val="000000"/>
                </a:solidFill>
                <a:latin typeface="Arial"/>
              </a:rPr>
              <a:t>Jij schrijft niet voor één lezer. Je </a:t>
            </a:r>
            <a:r>
              <a:rPr sz="2000" b="1">
                <a:solidFill>
                  <a:srgbClr val="E50056"/>
                </a:solidFill>
                <a:latin typeface="Arial"/>
              </a:rPr>
              <a:t>rust er één uit</a:t>
            </a:r>
            <a:r>
              <a:rPr sz="2000" b="1">
                <a:solidFill>
                  <a:srgbClr val="000000"/>
                </a:solidFill>
                <a:latin typeface="Arial"/>
              </a:rPr>
              <a:t> om anderen te overtuigen.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713232" cy="78638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713232" cy="274320"/>
          </a:xfrm>
          <a:prstGeom prst="rect">
            <a:avLst/>
          </a:prstGeom>
          <a:noFill/>
        </p:spPr>
        <p:txBody>
          <a:bodyPr wrap="square" anchor="t" lIns="0" rIns="0" tIns="0" bIns="0">
            <a:spAutoFit/>
          </a:bodyPr>
          <a:lstStyle/>
          <a:p>
            <a:pPr algn="ctr">
              <a:lnSpc>
                <a:spcPct val="95000"/>
              </a:lnSpc>
            </a:pPr>
            <a:r>
              <a:rPr sz="1100" b="1">
                <a:solidFill>
                  <a:srgbClr val="FFFFFF"/>
                </a:solidFill>
                <a:latin typeface="Courier New"/>
              </a:rPr>
              <a:t>KERN</a:t>
            </a:r>
          </a:p>
        </p:txBody>
      </p:sp>
      <p:sp>
        <p:nvSpPr>
          <p:cNvPr id="7" name="TextBox 6"/>
          <p:cNvSpPr txBox="1"/>
          <p:nvPr/>
        </p:nvSpPr>
        <p:spPr>
          <a:xfrm>
            <a:off x="2715768"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02 · ANDERE LEZER, ANDERE VRAAG</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ZES ROLLEN</a:t>
            </a:r>
          </a:p>
        </p:txBody>
      </p:sp>
      <p:sp>
        <p:nvSpPr>
          <p:cNvPr id="9" name="Rectangle 8"/>
          <p:cNvSpPr/>
          <p:nvPr/>
        </p:nvSpPr>
        <p:spPr>
          <a:xfrm>
            <a:off x="0" y="6272784"/>
            <a:ext cx="12191695"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757575"/>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000000"/>
                </a:solidFill>
                <a:latin typeface="Courier New"/>
              </a:rPr>
              <a:t>03 / 08</a:t>
            </a:r>
          </a:p>
        </p:txBody>
      </p:sp>
      <p:sp>
        <p:nvSpPr>
          <p:cNvPr id="13" name="TextBox 12"/>
          <p:cNvSpPr txBox="1"/>
          <p:nvPr/>
        </p:nvSpPr>
        <p:spPr>
          <a:xfrm>
            <a:off x="822960" y="1051560"/>
            <a:ext cx="10515600" cy="1188720"/>
          </a:xfrm>
          <a:prstGeom prst="rect">
            <a:avLst/>
          </a:prstGeom>
          <a:noFill/>
        </p:spPr>
        <p:txBody>
          <a:bodyPr wrap="square" anchor="t" lIns="0" rIns="0" tIns="0" bIns="0">
            <a:spAutoFit/>
          </a:bodyPr>
          <a:lstStyle/>
          <a:p>
            <a:pPr algn="l">
              <a:lnSpc>
                <a:spcPct val="95000"/>
              </a:lnSpc>
            </a:pPr>
            <a:r>
              <a:rPr sz="3100" b="0">
                <a:solidFill>
                  <a:srgbClr val="000000"/>
                </a:solidFill>
                <a:latin typeface="Arial Black"/>
              </a:rPr>
              <a:t>IEDERE LEZER STELT</a:t>
            </a:r>
          </a:p>
          <a:p>
            <a:pPr algn="l">
              <a:lnSpc>
                <a:spcPct val="95000"/>
              </a:lnSpc>
            </a:pPr>
            <a:r>
              <a:rPr sz="3100" b="0">
                <a:solidFill>
                  <a:srgbClr val="000000"/>
                </a:solidFill>
                <a:latin typeface="Arial Black"/>
              </a:rPr>
              <a:t>EEN ANDERE EERSTE VRAAG.</a:t>
            </a:r>
          </a:p>
        </p:txBody>
      </p:sp>
      <p:sp>
        <p:nvSpPr>
          <p:cNvPr id="14" name="Rectangle 13"/>
          <p:cNvSpPr/>
          <p:nvPr/>
        </p:nvSpPr>
        <p:spPr>
          <a:xfrm>
            <a:off x="822960" y="2697480"/>
            <a:ext cx="3383280" cy="1371600"/>
          </a:xfrm>
          <a:prstGeom prst="rect">
            <a:avLst/>
          </a:prstGeom>
          <a:solidFill>
            <a:srgbClr val="FFFFFF"/>
          </a:solidFill>
          <a:ln w="381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42416" y="2898648"/>
            <a:ext cx="3017520" cy="274320"/>
          </a:xfrm>
          <a:prstGeom prst="rect">
            <a:avLst/>
          </a:prstGeom>
          <a:noFill/>
        </p:spPr>
        <p:txBody>
          <a:bodyPr wrap="square" anchor="t" lIns="0" rIns="0" tIns="0" bIns="0">
            <a:spAutoFit/>
          </a:bodyPr>
          <a:lstStyle/>
          <a:p>
            <a:pPr algn="l">
              <a:lnSpc>
                <a:spcPct val="95000"/>
              </a:lnSpc>
            </a:pPr>
            <a:r>
              <a:rPr sz="1050" b="1">
                <a:solidFill>
                  <a:srgbClr val="E50056"/>
                </a:solidFill>
                <a:latin typeface="Arial"/>
              </a:rPr>
              <a:t>FINANCIEEL DIRECTEUR</a:t>
            </a:r>
          </a:p>
        </p:txBody>
      </p:sp>
      <p:sp>
        <p:nvSpPr>
          <p:cNvPr id="16" name="TextBox 15"/>
          <p:cNvSpPr txBox="1"/>
          <p:nvPr/>
        </p:nvSpPr>
        <p:spPr>
          <a:xfrm>
            <a:off x="1042416" y="3264408"/>
            <a:ext cx="3017520" cy="731520"/>
          </a:xfrm>
          <a:prstGeom prst="rect">
            <a:avLst/>
          </a:prstGeom>
          <a:noFill/>
        </p:spPr>
        <p:txBody>
          <a:bodyPr wrap="square" anchor="t" lIns="0" rIns="0" tIns="0" bIns="0">
            <a:spAutoFit/>
          </a:bodyPr>
          <a:lstStyle/>
          <a:p>
            <a:pPr algn="l">
              <a:lnSpc>
                <a:spcPct val="115000"/>
              </a:lnSpc>
            </a:pPr>
            <a:r>
              <a:rPr sz="1250" b="0">
                <a:solidFill>
                  <a:srgbClr val="000000"/>
                </a:solidFill>
                <a:latin typeface="Arial"/>
              </a:rPr>
              <a:t>“Wat kost het, en wanneer is het terugverdiend?”</a:t>
            </a:r>
          </a:p>
        </p:txBody>
      </p:sp>
      <p:sp>
        <p:nvSpPr>
          <p:cNvPr id="17" name="Rectangle 16"/>
          <p:cNvSpPr/>
          <p:nvPr/>
        </p:nvSpPr>
        <p:spPr>
          <a:xfrm>
            <a:off x="4389120" y="2697480"/>
            <a:ext cx="3383280" cy="1371600"/>
          </a:xfrm>
          <a:prstGeom prst="rect">
            <a:avLst/>
          </a:prstGeom>
          <a:solidFill>
            <a:srgbClr val="FFFFFF"/>
          </a:solidFill>
          <a:ln w="381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08576" y="2898648"/>
            <a:ext cx="3017520" cy="274320"/>
          </a:xfrm>
          <a:prstGeom prst="rect">
            <a:avLst/>
          </a:prstGeom>
          <a:noFill/>
        </p:spPr>
        <p:txBody>
          <a:bodyPr wrap="square" anchor="t" lIns="0" rIns="0" tIns="0" bIns="0">
            <a:spAutoFit/>
          </a:bodyPr>
          <a:lstStyle/>
          <a:p>
            <a:pPr algn="l">
              <a:lnSpc>
                <a:spcPct val="95000"/>
              </a:lnSpc>
            </a:pPr>
            <a:r>
              <a:rPr sz="1050" b="1">
                <a:solidFill>
                  <a:srgbClr val="E50056"/>
                </a:solidFill>
                <a:latin typeface="Arial"/>
              </a:rPr>
              <a:t>DIRECTIE OF BESTUUR</a:t>
            </a:r>
          </a:p>
        </p:txBody>
      </p:sp>
      <p:sp>
        <p:nvSpPr>
          <p:cNvPr id="19" name="TextBox 18"/>
          <p:cNvSpPr txBox="1"/>
          <p:nvPr/>
        </p:nvSpPr>
        <p:spPr>
          <a:xfrm>
            <a:off x="4608576" y="3264408"/>
            <a:ext cx="3017520" cy="731520"/>
          </a:xfrm>
          <a:prstGeom prst="rect">
            <a:avLst/>
          </a:prstGeom>
          <a:noFill/>
        </p:spPr>
        <p:txBody>
          <a:bodyPr wrap="square" anchor="t" lIns="0" rIns="0" tIns="0" bIns="0">
            <a:spAutoFit/>
          </a:bodyPr>
          <a:lstStyle/>
          <a:p>
            <a:pPr algn="l">
              <a:lnSpc>
                <a:spcPct val="115000"/>
              </a:lnSpc>
            </a:pPr>
            <a:r>
              <a:rPr sz="1250" b="0">
                <a:solidFill>
                  <a:srgbClr val="000000"/>
                </a:solidFill>
                <a:latin typeface="Arial"/>
              </a:rPr>
              <a:t>“Waarom nu? En wat als we niets doen?”</a:t>
            </a:r>
          </a:p>
        </p:txBody>
      </p:sp>
      <p:sp>
        <p:nvSpPr>
          <p:cNvPr id="20" name="Rectangle 19"/>
          <p:cNvSpPr/>
          <p:nvPr/>
        </p:nvSpPr>
        <p:spPr>
          <a:xfrm>
            <a:off x="7955279" y="2697480"/>
            <a:ext cx="3383280" cy="1371600"/>
          </a:xfrm>
          <a:prstGeom prst="rect">
            <a:avLst/>
          </a:prstGeom>
          <a:solidFill>
            <a:srgbClr val="FFFFFF"/>
          </a:solidFill>
          <a:ln w="381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898648"/>
            <a:ext cx="3017520" cy="274320"/>
          </a:xfrm>
          <a:prstGeom prst="rect">
            <a:avLst/>
          </a:prstGeom>
          <a:noFill/>
        </p:spPr>
        <p:txBody>
          <a:bodyPr wrap="square" anchor="t" lIns="0" rIns="0" tIns="0" bIns="0">
            <a:spAutoFit/>
          </a:bodyPr>
          <a:lstStyle/>
          <a:p>
            <a:pPr algn="l">
              <a:lnSpc>
                <a:spcPct val="95000"/>
              </a:lnSpc>
            </a:pPr>
            <a:r>
              <a:rPr sz="1050" b="1">
                <a:solidFill>
                  <a:srgbClr val="E50056"/>
                </a:solidFill>
                <a:latin typeface="Arial"/>
              </a:rPr>
              <a:t>HR-MANAGER</a:t>
            </a:r>
          </a:p>
        </p:txBody>
      </p:sp>
      <p:sp>
        <p:nvSpPr>
          <p:cNvPr id="22" name="TextBox 21"/>
          <p:cNvSpPr txBox="1"/>
          <p:nvPr/>
        </p:nvSpPr>
        <p:spPr>
          <a:xfrm>
            <a:off x="8174736" y="3264408"/>
            <a:ext cx="3017520" cy="731520"/>
          </a:xfrm>
          <a:prstGeom prst="rect">
            <a:avLst/>
          </a:prstGeom>
          <a:noFill/>
        </p:spPr>
        <p:txBody>
          <a:bodyPr wrap="square" anchor="t" lIns="0" rIns="0" tIns="0" bIns="0">
            <a:spAutoFit/>
          </a:bodyPr>
          <a:lstStyle/>
          <a:p>
            <a:pPr algn="l">
              <a:lnSpc>
                <a:spcPct val="115000"/>
              </a:lnSpc>
            </a:pPr>
            <a:r>
              <a:rPr sz="1250" b="0">
                <a:solidFill>
                  <a:srgbClr val="000000"/>
                </a:solidFill>
                <a:latin typeface="Arial"/>
              </a:rPr>
              <a:t>“Wat betekent dit voor onze mensen?”</a:t>
            </a:r>
          </a:p>
        </p:txBody>
      </p:sp>
      <p:sp>
        <p:nvSpPr>
          <p:cNvPr id="23" name="Rectangle 22"/>
          <p:cNvSpPr/>
          <p:nvPr/>
        </p:nvSpPr>
        <p:spPr>
          <a:xfrm>
            <a:off x="822960" y="4270248"/>
            <a:ext cx="3383280" cy="1371600"/>
          </a:xfrm>
          <a:prstGeom prst="rect">
            <a:avLst/>
          </a:prstGeom>
          <a:solidFill>
            <a:srgbClr val="FFFFFF"/>
          </a:solidFill>
          <a:ln w="381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42416" y="4471416"/>
            <a:ext cx="3017520" cy="274320"/>
          </a:xfrm>
          <a:prstGeom prst="rect">
            <a:avLst/>
          </a:prstGeom>
          <a:noFill/>
        </p:spPr>
        <p:txBody>
          <a:bodyPr wrap="square" anchor="t" lIns="0" rIns="0" tIns="0" bIns="0">
            <a:spAutoFit/>
          </a:bodyPr>
          <a:lstStyle/>
          <a:p>
            <a:pPr algn="l">
              <a:lnSpc>
                <a:spcPct val="95000"/>
              </a:lnSpc>
            </a:pPr>
            <a:r>
              <a:rPr sz="1050" b="1">
                <a:solidFill>
                  <a:srgbClr val="E50056"/>
                </a:solidFill>
                <a:latin typeface="Arial"/>
              </a:rPr>
              <a:t>TEAMLEIDER</a:t>
            </a:r>
          </a:p>
        </p:txBody>
      </p:sp>
      <p:sp>
        <p:nvSpPr>
          <p:cNvPr id="25" name="TextBox 24"/>
          <p:cNvSpPr txBox="1"/>
          <p:nvPr/>
        </p:nvSpPr>
        <p:spPr>
          <a:xfrm>
            <a:off x="1042416" y="4837176"/>
            <a:ext cx="3017520" cy="731520"/>
          </a:xfrm>
          <a:prstGeom prst="rect">
            <a:avLst/>
          </a:prstGeom>
          <a:noFill/>
        </p:spPr>
        <p:txBody>
          <a:bodyPr wrap="square" anchor="t" lIns="0" rIns="0" tIns="0" bIns="0">
            <a:spAutoFit/>
          </a:bodyPr>
          <a:lstStyle/>
          <a:p>
            <a:pPr algn="l">
              <a:lnSpc>
                <a:spcPct val="115000"/>
              </a:lnSpc>
            </a:pPr>
            <a:r>
              <a:rPr sz="1250" b="0">
                <a:solidFill>
                  <a:srgbClr val="000000"/>
                </a:solidFill>
                <a:latin typeface="Arial"/>
              </a:rPr>
              <a:t>“Wat verandert er morgen aan het werk?”</a:t>
            </a:r>
          </a:p>
        </p:txBody>
      </p:sp>
      <p:sp>
        <p:nvSpPr>
          <p:cNvPr id="26" name="Rectangle 25"/>
          <p:cNvSpPr/>
          <p:nvPr/>
        </p:nvSpPr>
        <p:spPr>
          <a:xfrm>
            <a:off x="4389120" y="4270248"/>
            <a:ext cx="3383280" cy="1371600"/>
          </a:xfrm>
          <a:prstGeom prst="rect">
            <a:avLst/>
          </a:prstGeom>
          <a:solidFill>
            <a:srgbClr val="FFFFFF"/>
          </a:solidFill>
          <a:ln w="381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08576" y="4471416"/>
            <a:ext cx="3017520" cy="274320"/>
          </a:xfrm>
          <a:prstGeom prst="rect">
            <a:avLst/>
          </a:prstGeom>
          <a:noFill/>
        </p:spPr>
        <p:txBody>
          <a:bodyPr wrap="square" anchor="t" lIns="0" rIns="0" tIns="0" bIns="0">
            <a:spAutoFit/>
          </a:bodyPr>
          <a:lstStyle/>
          <a:p>
            <a:pPr algn="l">
              <a:lnSpc>
                <a:spcPct val="95000"/>
              </a:lnSpc>
            </a:pPr>
            <a:r>
              <a:rPr sz="1050" b="1">
                <a:solidFill>
                  <a:srgbClr val="E50056"/>
                </a:solidFill>
                <a:latin typeface="Arial"/>
              </a:rPr>
              <a:t>ONDERNEMINGSRAAD</a:t>
            </a:r>
          </a:p>
        </p:txBody>
      </p:sp>
      <p:sp>
        <p:nvSpPr>
          <p:cNvPr id="28" name="TextBox 27"/>
          <p:cNvSpPr txBox="1"/>
          <p:nvPr/>
        </p:nvSpPr>
        <p:spPr>
          <a:xfrm>
            <a:off x="4608576" y="4837176"/>
            <a:ext cx="3017520" cy="731520"/>
          </a:xfrm>
          <a:prstGeom prst="rect">
            <a:avLst/>
          </a:prstGeom>
          <a:noFill/>
        </p:spPr>
        <p:txBody>
          <a:bodyPr wrap="square" anchor="t" lIns="0" rIns="0" tIns="0" bIns="0">
            <a:spAutoFit/>
          </a:bodyPr>
          <a:lstStyle/>
          <a:p>
            <a:pPr algn="l">
              <a:lnSpc>
                <a:spcPct val="115000"/>
              </a:lnSpc>
            </a:pPr>
            <a:r>
              <a:rPr sz="1250" b="0">
                <a:solidFill>
                  <a:srgbClr val="000000"/>
                </a:solidFill>
                <a:latin typeface="Arial"/>
              </a:rPr>
              <a:t>“Is dit eerlijk voor de medewerkers?”</a:t>
            </a:r>
          </a:p>
        </p:txBody>
      </p:sp>
      <p:sp>
        <p:nvSpPr>
          <p:cNvPr id="29" name="Rectangle 28"/>
          <p:cNvSpPr/>
          <p:nvPr/>
        </p:nvSpPr>
        <p:spPr>
          <a:xfrm>
            <a:off x="7955279" y="4270248"/>
            <a:ext cx="3383280" cy="1371600"/>
          </a:xfrm>
          <a:prstGeom prst="rect">
            <a:avLst/>
          </a:prstGeom>
          <a:solidFill>
            <a:srgbClr val="FFFFFF"/>
          </a:solidFill>
          <a:ln w="381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4736" y="4471416"/>
            <a:ext cx="3017520" cy="274320"/>
          </a:xfrm>
          <a:prstGeom prst="rect">
            <a:avLst/>
          </a:prstGeom>
          <a:noFill/>
        </p:spPr>
        <p:txBody>
          <a:bodyPr wrap="square" anchor="t" lIns="0" rIns="0" tIns="0" bIns="0">
            <a:spAutoFit/>
          </a:bodyPr>
          <a:lstStyle/>
          <a:p>
            <a:pPr algn="l">
              <a:lnSpc>
                <a:spcPct val="95000"/>
              </a:lnSpc>
            </a:pPr>
            <a:r>
              <a:rPr sz="1050" b="1">
                <a:solidFill>
                  <a:srgbClr val="E50056"/>
                </a:solidFill>
                <a:latin typeface="Arial"/>
              </a:rPr>
              <a:t>IT OF TECHNIEK</a:t>
            </a:r>
          </a:p>
        </p:txBody>
      </p:sp>
      <p:sp>
        <p:nvSpPr>
          <p:cNvPr id="31" name="TextBox 30"/>
          <p:cNvSpPr txBox="1"/>
          <p:nvPr/>
        </p:nvSpPr>
        <p:spPr>
          <a:xfrm>
            <a:off x="8174736" y="4837176"/>
            <a:ext cx="3017520" cy="731520"/>
          </a:xfrm>
          <a:prstGeom prst="rect">
            <a:avLst/>
          </a:prstGeom>
          <a:noFill/>
        </p:spPr>
        <p:txBody>
          <a:bodyPr wrap="square" anchor="t" lIns="0" rIns="0" tIns="0" bIns="0">
            <a:spAutoFit/>
          </a:bodyPr>
          <a:lstStyle/>
          <a:p>
            <a:pPr algn="l">
              <a:lnSpc>
                <a:spcPct val="115000"/>
              </a:lnSpc>
            </a:pPr>
            <a:r>
              <a:rPr sz="1250" b="0">
                <a:solidFill>
                  <a:srgbClr val="000000"/>
                </a:solidFill>
                <a:latin typeface="Arial"/>
              </a:rPr>
              <a:t>“Kan dit bij ons überhaupt?”</a:t>
            </a:r>
          </a:p>
        </p:txBody>
      </p:sp>
      <p:sp>
        <p:nvSpPr>
          <p:cNvPr id="32" name="TextBox 31"/>
          <p:cNvSpPr txBox="1"/>
          <p:nvPr/>
        </p:nvSpPr>
        <p:spPr>
          <a:xfrm>
            <a:off x="822960" y="5870448"/>
            <a:ext cx="10515600" cy="365760"/>
          </a:xfrm>
          <a:prstGeom prst="rect">
            <a:avLst/>
          </a:prstGeom>
          <a:noFill/>
        </p:spPr>
        <p:txBody>
          <a:bodyPr wrap="square" anchor="t" lIns="0" rIns="0" tIns="0" bIns="0">
            <a:spAutoFit/>
          </a:bodyPr>
          <a:lstStyle/>
          <a:p>
            <a:pPr algn="l">
              <a:lnSpc>
                <a:spcPct val="95000"/>
              </a:lnSpc>
            </a:pPr>
            <a:r>
              <a:rPr sz="1300" b="0">
                <a:solidFill>
                  <a:srgbClr val="454545"/>
                </a:solidFill>
                <a:latin typeface="Arial"/>
              </a:rPr>
              <a:t>Jouw product beantwoordt er nu waarschijnlijk </a:t>
            </a:r>
            <a:r>
              <a:rPr sz="1300" b="1">
                <a:solidFill>
                  <a:srgbClr val="454545"/>
                </a:solidFill>
                <a:latin typeface="Arial"/>
              </a:rPr>
              <a:t>één of twee</a:t>
            </a:r>
            <a:r>
              <a:rPr sz="1300" b="0">
                <a:solidFill>
                  <a:srgbClr val="454545"/>
                </a:solidFill>
                <a:latin typeface="Arial"/>
              </a:rPr>
              <a:t> van.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1289304"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1289304" cy="274320"/>
          </a:xfrm>
          <a:prstGeom prst="rect">
            <a:avLst/>
          </a:prstGeom>
          <a:noFill/>
        </p:spPr>
        <p:txBody>
          <a:bodyPr wrap="square" anchor="t" lIns="0" rIns="0" tIns="0" bIns="0">
            <a:spAutoFit/>
          </a:bodyPr>
          <a:lstStyle/>
          <a:p>
            <a:pPr algn="ctr">
              <a:lnSpc>
                <a:spcPct val="95000"/>
              </a:lnSpc>
            </a:pPr>
            <a:r>
              <a:rPr sz="1100" b="1">
                <a:solidFill>
                  <a:srgbClr val="000000"/>
                </a:solidFill>
                <a:latin typeface="Courier New"/>
              </a:rPr>
              <a:t>WERKVORM 3</a:t>
            </a:r>
          </a:p>
        </p:txBody>
      </p:sp>
      <p:sp>
        <p:nvSpPr>
          <p:cNvPr id="7" name="TextBox 6"/>
          <p:cNvSpPr txBox="1"/>
          <p:nvPr/>
        </p:nvSpPr>
        <p:spPr>
          <a:xfrm>
            <a:off x="3291840"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PAK WERKBLAD 2</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8 MINUTEN</a:t>
            </a:r>
          </a:p>
        </p:txBody>
      </p:sp>
      <p:sp>
        <p:nvSpPr>
          <p:cNvPr id="9" name="Rectangle 8"/>
          <p:cNvSpPr/>
          <p:nvPr/>
        </p:nvSpPr>
        <p:spPr>
          <a:xfrm>
            <a:off x="0" y="6272784"/>
            <a:ext cx="12191695"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FFFFFF"/>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FFFFFF"/>
                </a:solidFill>
                <a:latin typeface="Courier New"/>
              </a:rPr>
              <a:t>04 / 08</a:t>
            </a:r>
          </a:p>
        </p:txBody>
      </p:sp>
      <p:sp>
        <p:nvSpPr>
          <p:cNvPr id="13" name="Rectangle 12"/>
          <p:cNvSpPr/>
          <p:nvPr/>
        </p:nvSpPr>
        <p:spPr>
          <a:xfrm>
            <a:off x="822960" y="1143000"/>
            <a:ext cx="2823667" cy="3108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1225296"/>
            <a:ext cx="2823667" cy="228600"/>
          </a:xfrm>
          <a:prstGeom prst="rect">
            <a:avLst/>
          </a:prstGeom>
          <a:noFill/>
        </p:spPr>
        <p:txBody>
          <a:bodyPr wrap="square" anchor="t" lIns="0" rIns="0" tIns="0" bIns="0">
            <a:spAutoFit/>
          </a:bodyPr>
          <a:lstStyle/>
          <a:p>
            <a:pPr algn="l">
              <a:lnSpc>
                <a:spcPct val="95000"/>
              </a:lnSpc>
            </a:pPr>
            <a:r>
              <a:rPr sz="1000" b="1">
                <a:solidFill>
                  <a:srgbClr val="FFFFFF"/>
                </a:solidFill>
                <a:latin typeface="Courier New"/>
              </a:rPr>
              <a:t>5 MIN ALLEEN · 3 MIN IN TWEETALLEN</a:t>
            </a:r>
          </a:p>
        </p:txBody>
      </p:sp>
      <p:sp>
        <p:nvSpPr>
          <p:cNvPr id="15" name="TextBox 14"/>
          <p:cNvSpPr txBox="1"/>
          <p:nvPr/>
        </p:nvSpPr>
        <p:spPr>
          <a:xfrm>
            <a:off x="822960" y="1691640"/>
            <a:ext cx="10515600" cy="822960"/>
          </a:xfrm>
          <a:prstGeom prst="rect">
            <a:avLst/>
          </a:prstGeom>
          <a:noFill/>
        </p:spPr>
        <p:txBody>
          <a:bodyPr wrap="square" anchor="t" lIns="0" rIns="0" tIns="0" bIns="0">
            <a:spAutoFit/>
          </a:bodyPr>
          <a:lstStyle/>
          <a:p>
            <a:pPr algn="l">
              <a:lnSpc>
                <a:spcPct val="95000"/>
              </a:lnSpc>
            </a:pPr>
            <a:r>
              <a:rPr sz="3800" b="0">
                <a:solidFill>
                  <a:srgbClr val="FFFFFF"/>
                </a:solidFill>
                <a:latin typeface="Arial Black"/>
              </a:rPr>
              <a:t>WIE KRIJGT HET DAARNA?</a:t>
            </a:r>
          </a:p>
        </p:txBody>
      </p:sp>
      <p:sp>
        <p:nvSpPr>
          <p:cNvPr id="16" name="Rectangle 15"/>
          <p:cNvSpPr/>
          <p:nvPr/>
        </p:nvSpPr>
        <p:spPr>
          <a:xfrm>
            <a:off x="822960" y="3017520"/>
            <a:ext cx="384048"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118103"/>
            <a:ext cx="384048" cy="274320"/>
          </a:xfrm>
          <a:prstGeom prst="rect">
            <a:avLst/>
          </a:prstGeom>
          <a:noFill/>
        </p:spPr>
        <p:txBody>
          <a:bodyPr wrap="square" anchor="t" lIns="0" rIns="0" tIns="0" bIns="0">
            <a:spAutoFit/>
          </a:bodyPr>
          <a:lstStyle/>
          <a:p>
            <a:pPr algn="ctr">
              <a:lnSpc>
                <a:spcPct val="95000"/>
              </a:lnSpc>
            </a:pPr>
            <a:r>
              <a:rPr sz="1100" b="1">
                <a:solidFill>
                  <a:srgbClr val="E50056"/>
                </a:solidFill>
                <a:latin typeface="Courier New"/>
              </a:rPr>
              <a:t>01</a:t>
            </a:r>
          </a:p>
        </p:txBody>
      </p:sp>
      <p:sp>
        <p:nvSpPr>
          <p:cNvPr id="18" name="TextBox 17"/>
          <p:cNvSpPr txBox="1"/>
          <p:nvPr/>
        </p:nvSpPr>
        <p:spPr>
          <a:xfrm>
            <a:off x="1389888" y="3054096"/>
            <a:ext cx="10058400" cy="411480"/>
          </a:xfrm>
          <a:prstGeom prst="rect">
            <a:avLst/>
          </a:prstGeom>
          <a:noFill/>
        </p:spPr>
        <p:txBody>
          <a:bodyPr wrap="square" anchor="t" lIns="0" rIns="0" tIns="0" bIns="0">
            <a:spAutoFit/>
          </a:bodyPr>
          <a:lstStyle/>
          <a:p>
            <a:pPr algn="l">
              <a:lnSpc>
                <a:spcPct val="110000"/>
              </a:lnSpc>
            </a:pPr>
            <a:r>
              <a:rPr sz="1500" b="0">
                <a:solidFill>
                  <a:srgbClr val="FFFFFF"/>
                </a:solidFill>
                <a:latin typeface="Arial"/>
              </a:rPr>
              <a:t>Noteer </a:t>
            </a:r>
            <a:r>
              <a:rPr sz="1500" b="1">
                <a:solidFill>
                  <a:srgbClr val="FFFFFF"/>
                </a:solidFill>
                <a:latin typeface="Arial"/>
              </a:rPr>
              <a:t>drie personen of rollen</a:t>
            </a:r>
            <a:r>
              <a:rPr sz="1500" b="0">
                <a:solidFill>
                  <a:srgbClr val="FFFFFF"/>
                </a:solidFill>
                <a:latin typeface="Arial"/>
              </a:rPr>
              <a:t> met wie je opdrachtgever jouw advies deelt.</a:t>
            </a:r>
          </a:p>
        </p:txBody>
      </p:sp>
      <p:sp>
        <p:nvSpPr>
          <p:cNvPr id="19" name="Rectangle 18"/>
          <p:cNvSpPr/>
          <p:nvPr/>
        </p:nvSpPr>
        <p:spPr>
          <a:xfrm>
            <a:off x="822960" y="3584448"/>
            <a:ext cx="384048"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685032"/>
            <a:ext cx="384048" cy="274320"/>
          </a:xfrm>
          <a:prstGeom prst="rect">
            <a:avLst/>
          </a:prstGeom>
          <a:noFill/>
        </p:spPr>
        <p:txBody>
          <a:bodyPr wrap="square" anchor="t" lIns="0" rIns="0" tIns="0" bIns="0">
            <a:spAutoFit/>
          </a:bodyPr>
          <a:lstStyle/>
          <a:p>
            <a:pPr algn="ctr">
              <a:lnSpc>
                <a:spcPct val="95000"/>
              </a:lnSpc>
            </a:pPr>
            <a:r>
              <a:rPr sz="1100" b="1">
                <a:solidFill>
                  <a:srgbClr val="E50056"/>
                </a:solidFill>
                <a:latin typeface="Courier New"/>
              </a:rPr>
              <a:t>02</a:t>
            </a:r>
          </a:p>
        </p:txBody>
      </p:sp>
      <p:sp>
        <p:nvSpPr>
          <p:cNvPr id="21" name="TextBox 20"/>
          <p:cNvSpPr txBox="1"/>
          <p:nvPr/>
        </p:nvSpPr>
        <p:spPr>
          <a:xfrm>
            <a:off x="1389888" y="3621024"/>
            <a:ext cx="10058400" cy="411480"/>
          </a:xfrm>
          <a:prstGeom prst="rect">
            <a:avLst/>
          </a:prstGeom>
          <a:noFill/>
        </p:spPr>
        <p:txBody>
          <a:bodyPr wrap="square" anchor="t" lIns="0" rIns="0" tIns="0" bIns="0">
            <a:spAutoFit/>
          </a:bodyPr>
          <a:lstStyle/>
          <a:p>
            <a:pPr algn="l">
              <a:lnSpc>
                <a:spcPct val="110000"/>
              </a:lnSpc>
            </a:pPr>
            <a:r>
              <a:rPr sz="1500" b="0">
                <a:solidFill>
                  <a:srgbClr val="FFFFFF"/>
                </a:solidFill>
                <a:latin typeface="Arial"/>
              </a:rPr>
              <a:t>Schrijf erbij </a:t>
            </a:r>
            <a:r>
              <a:rPr sz="1500" b="1">
                <a:solidFill>
                  <a:srgbClr val="FFFFFF"/>
                </a:solidFill>
                <a:latin typeface="Arial"/>
              </a:rPr>
              <a:t>in welke context</a:t>
            </a:r>
            <a:r>
              <a:rPr sz="1500" b="0">
                <a:solidFill>
                  <a:srgbClr val="FFFFFF"/>
                </a:solidFill>
                <a:latin typeface="Arial"/>
              </a:rPr>
              <a:t>: budgetronde, MT-overleg, werkoverleg, OR?</a:t>
            </a:r>
          </a:p>
        </p:txBody>
      </p:sp>
      <p:sp>
        <p:nvSpPr>
          <p:cNvPr id="22" name="Rectangle 21"/>
          <p:cNvSpPr/>
          <p:nvPr/>
        </p:nvSpPr>
        <p:spPr>
          <a:xfrm>
            <a:off x="822960" y="4151376"/>
            <a:ext cx="384048"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251960"/>
            <a:ext cx="384048" cy="274320"/>
          </a:xfrm>
          <a:prstGeom prst="rect">
            <a:avLst/>
          </a:prstGeom>
          <a:noFill/>
        </p:spPr>
        <p:txBody>
          <a:bodyPr wrap="square" anchor="t" lIns="0" rIns="0" tIns="0" bIns="0">
            <a:spAutoFit/>
          </a:bodyPr>
          <a:lstStyle/>
          <a:p>
            <a:pPr algn="ctr">
              <a:lnSpc>
                <a:spcPct val="95000"/>
              </a:lnSpc>
            </a:pPr>
            <a:r>
              <a:rPr sz="1100" b="1">
                <a:solidFill>
                  <a:srgbClr val="E50056"/>
                </a:solidFill>
                <a:latin typeface="Courier New"/>
              </a:rPr>
              <a:t>03</a:t>
            </a:r>
          </a:p>
        </p:txBody>
      </p:sp>
      <p:sp>
        <p:nvSpPr>
          <p:cNvPr id="24" name="TextBox 23"/>
          <p:cNvSpPr txBox="1"/>
          <p:nvPr/>
        </p:nvSpPr>
        <p:spPr>
          <a:xfrm>
            <a:off x="1389888" y="4187952"/>
            <a:ext cx="10058400" cy="411480"/>
          </a:xfrm>
          <a:prstGeom prst="rect">
            <a:avLst/>
          </a:prstGeom>
          <a:noFill/>
        </p:spPr>
        <p:txBody>
          <a:bodyPr wrap="square" anchor="t" lIns="0" rIns="0" tIns="0" bIns="0">
            <a:spAutoFit/>
          </a:bodyPr>
          <a:lstStyle/>
          <a:p>
            <a:pPr algn="l">
              <a:lnSpc>
                <a:spcPct val="110000"/>
              </a:lnSpc>
            </a:pPr>
            <a:r>
              <a:rPr sz="1500" b="0">
                <a:solidFill>
                  <a:srgbClr val="FFFFFF"/>
                </a:solidFill>
                <a:latin typeface="Arial"/>
              </a:rPr>
              <a:t>En: </a:t>
            </a:r>
            <a:r>
              <a:rPr sz="1500" b="1">
                <a:solidFill>
                  <a:srgbClr val="FFFFFF"/>
                </a:solidFill>
                <a:latin typeface="Arial"/>
              </a:rPr>
              <a:t>welke vraag stelt die persoon als eerste</a:t>
            </a:r>
            <a:r>
              <a:rPr sz="1500" b="0">
                <a:solidFill>
                  <a:srgbClr val="FFFFFF"/>
                </a:solidFill>
                <a:latin typeface="Arial"/>
              </a:rPr>
              <a:t>?</a:t>
            </a:r>
          </a:p>
        </p:txBody>
      </p:sp>
      <p:sp>
        <p:nvSpPr>
          <p:cNvPr id="25" name="TextBox 24"/>
          <p:cNvSpPr txBox="1"/>
          <p:nvPr/>
        </p:nvSpPr>
        <p:spPr>
          <a:xfrm>
            <a:off x="822960" y="4983480"/>
            <a:ext cx="10515600" cy="457200"/>
          </a:xfrm>
          <a:prstGeom prst="rect">
            <a:avLst/>
          </a:prstGeom>
          <a:noFill/>
        </p:spPr>
        <p:txBody>
          <a:bodyPr wrap="square" anchor="t" lIns="0" rIns="0" tIns="0" bIns="0">
            <a:spAutoFit/>
          </a:bodyPr>
          <a:lstStyle/>
          <a:p>
            <a:pPr algn="l">
              <a:lnSpc>
                <a:spcPct val="95000"/>
              </a:lnSpc>
            </a:pPr>
            <a:r>
              <a:rPr sz="1400" b="0">
                <a:solidFill>
                  <a:srgbClr val="FFFFFF"/>
                </a:solidFill>
                <a:latin typeface="Arial"/>
              </a:rPr>
              <a:t>Daarna: check elkaars ketting in tweetallen.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713232" cy="78638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713232" cy="274320"/>
          </a:xfrm>
          <a:prstGeom prst="rect">
            <a:avLst/>
          </a:prstGeom>
          <a:noFill/>
        </p:spPr>
        <p:txBody>
          <a:bodyPr wrap="square" anchor="t" lIns="0" rIns="0" tIns="0" bIns="0">
            <a:spAutoFit/>
          </a:bodyPr>
          <a:lstStyle/>
          <a:p>
            <a:pPr algn="ctr">
              <a:lnSpc>
                <a:spcPct val="95000"/>
              </a:lnSpc>
            </a:pPr>
            <a:r>
              <a:rPr sz="1100" b="1">
                <a:solidFill>
                  <a:srgbClr val="FFFFFF"/>
                </a:solidFill>
                <a:latin typeface="Courier New"/>
              </a:rPr>
              <a:t>KERN</a:t>
            </a:r>
          </a:p>
        </p:txBody>
      </p:sp>
      <p:sp>
        <p:nvSpPr>
          <p:cNvPr id="7" name="TextBox 6"/>
          <p:cNvSpPr txBox="1"/>
          <p:nvPr/>
        </p:nvSpPr>
        <p:spPr>
          <a:xfrm>
            <a:off x="2715768"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03 · HET FRAGMENT</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BELANGRIJK</a:t>
            </a:r>
          </a:p>
        </p:txBody>
      </p:sp>
      <p:sp>
        <p:nvSpPr>
          <p:cNvPr id="9" name="Rectangle 8"/>
          <p:cNvSpPr/>
          <p:nvPr/>
        </p:nvSpPr>
        <p:spPr>
          <a:xfrm>
            <a:off x="0" y="6272784"/>
            <a:ext cx="12191695"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757575"/>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000000"/>
                </a:solidFill>
                <a:latin typeface="Courier New"/>
              </a:rPr>
              <a:t>05 / 08</a:t>
            </a:r>
          </a:p>
        </p:txBody>
      </p:sp>
      <p:sp>
        <p:nvSpPr>
          <p:cNvPr id="13" name="TextBox 12"/>
          <p:cNvSpPr txBox="1"/>
          <p:nvPr/>
        </p:nvSpPr>
        <p:spPr>
          <a:xfrm>
            <a:off x="822960" y="1097280"/>
            <a:ext cx="10515600" cy="1280160"/>
          </a:xfrm>
          <a:prstGeom prst="rect">
            <a:avLst/>
          </a:prstGeom>
          <a:noFill/>
        </p:spPr>
        <p:txBody>
          <a:bodyPr wrap="square" anchor="t" lIns="0" rIns="0" tIns="0" bIns="0">
            <a:spAutoFit/>
          </a:bodyPr>
          <a:lstStyle/>
          <a:p>
            <a:pPr algn="l">
              <a:lnSpc>
                <a:spcPct val="95000"/>
              </a:lnSpc>
            </a:pPr>
            <a:r>
              <a:rPr sz="3400" b="0">
                <a:solidFill>
                  <a:srgbClr val="000000"/>
                </a:solidFill>
                <a:latin typeface="Arial Black"/>
              </a:rPr>
              <a:t>ONDERWEG RAAKT</a:t>
            </a:r>
          </a:p>
          <a:p>
            <a:pPr algn="l">
              <a:lnSpc>
                <a:spcPct val="95000"/>
              </a:lnSpc>
            </a:pPr>
            <a:r>
              <a:rPr sz="3400" b="0">
                <a:solidFill>
                  <a:srgbClr val="000000"/>
                </a:solidFill>
                <a:latin typeface="Arial Black"/>
              </a:rPr>
              <a:t>ER ALTIJD IETS KWIJT.</a:t>
            </a:r>
          </a:p>
        </p:txBody>
      </p:sp>
      <p:sp>
        <p:nvSpPr>
          <p:cNvPr id="14" name="Rectangle 13"/>
          <p:cNvSpPr/>
          <p:nvPr/>
        </p:nvSpPr>
        <p:spPr>
          <a:xfrm>
            <a:off x="822960" y="2468880"/>
            <a:ext cx="10515600" cy="5029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3063240"/>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 y="2926080"/>
            <a:ext cx="10058400" cy="457200"/>
          </a:xfrm>
          <a:prstGeom prst="rect">
            <a:avLst/>
          </a:prstGeom>
          <a:noFill/>
        </p:spPr>
        <p:txBody>
          <a:bodyPr wrap="square" anchor="t" lIns="0" rIns="0" tIns="0" bIns="0">
            <a:spAutoFit/>
          </a:bodyPr>
          <a:lstStyle/>
          <a:p>
            <a:pPr algn="l">
              <a:lnSpc>
                <a:spcPct val="110000"/>
              </a:lnSpc>
            </a:pPr>
            <a:r>
              <a:rPr sz="1600" b="0">
                <a:solidFill>
                  <a:srgbClr val="000000"/>
                </a:solidFill>
                <a:latin typeface="Arial"/>
              </a:rPr>
              <a:t>Wat je opdrachtgever doorstuurt is </a:t>
            </a:r>
            <a:r>
              <a:rPr sz="1600" b="1">
                <a:solidFill>
                  <a:srgbClr val="000000"/>
                </a:solidFill>
                <a:latin typeface="Arial"/>
              </a:rPr>
              <a:t>nooit je hele product</a:t>
            </a:r>
            <a:r>
              <a:rPr sz="1600" b="0">
                <a:solidFill>
                  <a:srgbClr val="000000"/>
                </a:solidFill>
                <a:latin typeface="Arial"/>
              </a:rPr>
              <a:t>.</a:t>
            </a:r>
          </a:p>
        </p:txBody>
      </p:sp>
      <p:sp>
        <p:nvSpPr>
          <p:cNvPr id="17" name="Rectangle 16"/>
          <p:cNvSpPr/>
          <p:nvPr/>
        </p:nvSpPr>
        <p:spPr>
          <a:xfrm>
            <a:off x="822960" y="3630168"/>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34440" y="3493008"/>
            <a:ext cx="10058400" cy="457200"/>
          </a:xfrm>
          <a:prstGeom prst="rect">
            <a:avLst/>
          </a:prstGeom>
          <a:noFill/>
        </p:spPr>
        <p:txBody>
          <a:bodyPr wrap="square" anchor="t" lIns="0" rIns="0" tIns="0" bIns="0">
            <a:spAutoFit/>
          </a:bodyPr>
          <a:lstStyle/>
          <a:p>
            <a:pPr algn="l">
              <a:lnSpc>
                <a:spcPct val="110000"/>
              </a:lnSpc>
            </a:pPr>
            <a:r>
              <a:rPr sz="1600" b="0">
                <a:solidFill>
                  <a:srgbClr val="000000"/>
                </a:solidFill>
                <a:latin typeface="Arial"/>
              </a:rPr>
              <a:t>Het is één pagina, één grafiek, of </a:t>
            </a:r>
            <a:r>
              <a:rPr sz="1600" b="1">
                <a:solidFill>
                  <a:srgbClr val="000000"/>
                </a:solidFill>
                <a:latin typeface="Arial"/>
              </a:rPr>
              <a:t>één zin in een mail</a:t>
            </a:r>
            <a:r>
              <a:rPr sz="1600" b="0">
                <a:solidFill>
                  <a:srgbClr val="000000"/>
                </a:solidFill>
                <a:latin typeface="Arial"/>
              </a:rPr>
              <a:t>.</a:t>
            </a:r>
          </a:p>
        </p:txBody>
      </p:sp>
      <p:sp>
        <p:nvSpPr>
          <p:cNvPr id="19" name="Rectangle 18"/>
          <p:cNvSpPr/>
          <p:nvPr/>
        </p:nvSpPr>
        <p:spPr>
          <a:xfrm>
            <a:off x="822960" y="4197096"/>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4059936"/>
            <a:ext cx="10058400" cy="457200"/>
          </a:xfrm>
          <a:prstGeom prst="rect">
            <a:avLst/>
          </a:prstGeom>
          <a:noFill/>
        </p:spPr>
        <p:txBody>
          <a:bodyPr wrap="square" anchor="t" lIns="0" rIns="0" tIns="0" bIns="0">
            <a:spAutoFit/>
          </a:bodyPr>
          <a:lstStyle/>
          <a:p>
            <a:pPr algn="l">
              <a:lnSpc>
                <a:spcPct val="110000"/>
              </a:lnSpc>
            </a:pPr>
            <a:r>
              <a:rPr sz="1600" b="0">
                <a:solidFill>
                  <a:srgbClr val="000000"/>
                </a:solidFill>
                <a:latin typeface="Arial"/>
              </a:rPr>
              <a:t>Kies je dat fragment niet zelf, dan </a:t>
            </a:r>
            <a:r>
              <a:rPr sz="1600" b="1">
                <a:solidFill>
                  <a:srgbClr val="000000"/>
                </a:solidFill>
                <a:latin typeface="Arial"/>
              </a:rPr>
              <a:t>kiest iemand anders het voor je</a:t>
            </a:r>
            <a:r>
              <a:rPr sz="1600" b="0">
                <a:solidFill>
                  <a:srgbClr val="000000"/>
                </a:solidFill>
                <a:latin typeface="Arial"/>
              </a:rPr>
              <a:t>.</a:t>
            </a:r>
          </a:p>
        </p:txBody>
      </p:sp>
      <p:sp>
        <p:nvSpPr>
          <p:cNvPr id="21" name="TextBox 20"/>
          <p:cNvSpPr txBox="1"/>
          <p:nvPr/>
        </p:nvSpPr>
        <p:spPr>
          <a:xfrm>
            <a:off x="822960" y="4983480"/>
            <a:ext cx="10515600" cy="640080"/>
          </a:xfrm>
          <a:prstGeom prst="rect">
            <a:avLst/>
          </a:prstGeom>
          <a:noFill/>
        </p:spPr>
        <p:txBody>
          <a:bodyPr wrap="square" anchor="t" lIns="0" rIns="0" tIns="0" bIns="0">
            <a:spAutoFit/>
          </a:bodyPr>
          <a:lstStyle/>
          <a:p>
            <a:pPr algn="l">
              <a:lnSpc>
                <a:spcPct val="95000"/>
              </a:lnSpc>
            </a:pPr>
            <a:r>
              <a:rPr sz="2400" b="1">
                <a:solidFill>
                  <a:srgbClr val="000000"/>
                </a:solidFill>
                <a:latin typeface="Arial"/>
              </a:rPr>
              <a:t>Ontwerp het fragment </a:t>
            </a:r>
            <a:r>
              <a:rPr sz="2400" b="1">
                <a:solidFill>
                  <a:srgbClr val="E50056"/>
                </a:solidFill>
                <a:latin typeface="Arial"/>
              </a:rPr>
              <a:t>dat doorreist</a:t>
            </a:r>
            <a:r>
              <a:rPr sz="2400" b="1">
                <a:solidFill>
                  <a:srgbClr val="000000"/>
                </a:solidFill>
                <a:latin typeface="Arial"/>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1289304"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1289304" cy="274320"/>
          </a:xfrm>
          <a:prstGeom prst="rect">
            <a:avLst/>
          </a:prstGeom>
          <a:noFill/>
        </p:spPr>
        <p:txBody>
          <a:bodyPr wrap="square" anchor="t" lIns="0" rIns="0" tIns="0" bIns="0">
            <a:spAutoFit/>
          </a:bodyPr>
          <a:lstStyle/>
          <a:p>
            <a:pPr algn="ctr">
              <a:lnSpc>
                <a:spcPct val="95000"/>
              </a:lnSpc>
            </a:pPr>
            <a:r>
              <a:rPr sz="1100" b="1">
                <a:solidFill>
                  <a:srgbClr val="000000"/>
                </a:solidFill>
                <a:latin typeface="Courier New"/>
              </a:rPr>
              <a:t>WERKVORM 4</a:t>
            </a:r>
          </a:p>
        </p:txBody>
      </p:sp>
      <p:sp>
        <p:nvSpPr>
          <p:cNvPr id="7" name="TextBox 6"/>
          <p:cNvSpPr txBox="1"/>
          <p:nvPr/>
        </p:nvSpPr>
        <p:spPr>
          <a:xfrm>
            <a:off x="3291840"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PAK WERKBLAD 2</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8 MINUTEN</a:t>
            </a:r>
          </a:p>
        </p:txBody>
      </p:sp>
      <p:sp>
        <p:nvSpPr>
          <p:cNvPr id="9" name="Rectangle 8"/>
          <p:cNvSpPr/>
          <p:nvPr/>
        </p:nvSpPr>
        <p:spPr>
          <a:xfrm>
            <a:off x="0" y="6272784"/>
            <a:ext cx="12191695"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FFFFFF"/>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FFFFFF"/>
                </a:solidFill>
                <a:latin typeface="Courier New"/>
              </a:rPr>
              <a:t>06 / 08</a:t>
            </a:r>
          </a:p>
        </p:txBody>
      </p:sp>
      <p:sp>
        <p:nvSpPr>
          <p:cNvPr id="13" name="Rectangle 12"/>
          <p:cNvSpPr/>
          <p:nvPr/>
        </p:nvSpPr>
        <p:spPr>
          <a:xfrm>
            <a:off x="822960" y="1143000"/>
            <a:ext cx="3648456" cy="3108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1225296"/>
            <a:ext cx="3648456" cy="228600"/>
          </a:xfrm>
          <a:prstGeom prst="rect">
            <a:avLst/>
          </a:prstGeom>
          <a:noFill/>
        </p:spPr>
        <p:txBody>
          <a:bodyPr wrap="square" anchor="t" lIns="0" rIns="0" tIns="0" bIns="0">
            <a:spAutoFit/>
          </a:bodyPr>
          <a:lstStyle/>
          <a:p>
            <a:pPr algn="l">
              <a:lnSpc>
                <a:spcPct val="95000"/>
              </a:lnSpc>
            </a:pPr>
            <a:r>
              <a:rPr sz="1000" b="1">
                <a:solidFill>
                  <a:srgbClr val="FFFFFF"/>
                </a:solidFill>
                <a:latin typeface="Courier New"/>
              </a:rPr>
              <a:t>2 MIN KIEZEN · 4 MIN SCHETSEN · 2 MIN TOETSEN</a:t>
            </a:r>
          </a:p>
        </p:txBody>
      </p:sp>
      <p:sp>
        <p:nvSpPr>
          <p:cNvPr id="15" name="TextBox 14"/>
          <p:cNvSpPr txBox="1"/>
          <p:nvPr/>
        </p:nvSpPr>
        <p:spPr>
          <a:xfrm>
            <a:off x="822960" y="1691640"/>
            <a:ext cx="10515600" cy="822960"/>
          </a:xfrm>
          <a:prstGeom prst="rect">
            <a:avLst/>
          </a:prstGeom>
          <a:noFill/>
        </p:spPr>
        <p:txBody>
          <a:bodyPr wrap="square" anchor="t" lIns="0" rIns="0" tIns="0" bIns="0">
            <a:spAutoFit/>
          </a:bodyPr>
          <a:lstStyle/>
          <a:p>
            <a:pPr algn="l">
              <a:lnSpc>
                <a:spcPct val="95000"/>
              </a:lnSpc>
            </a:pPr>
            <a:r>
              <a:rPr sz="3800" b="0">
                <a:solidFill>
                  <a:srgbClr val="FFFFFF"/>
                </a:solidFill>
                <a:latin typeface="Arial Black"/>
              </a:rPr>
              <a:t>ONTWERP HET FRAGMENT.</a:t>
            </a:r>
          </a:p>
        </p:txBody>
      </p:sp>
      <p:sp>
        <p:nvSpPr>
          <p:cNvPr id="16" name="Rectangle 15"/>
          <p:cNvSpPr/>
          <p:nvPr/>
        </p:nvSpPr>
        <p:spPr>
          <a:xfrm>
            <a:off x="822960" y="3017520"/>
            <a:ext cx="384048"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118103"/>
            <a:ext cx="384048" cy="274320"/>
          </a:xfrm>
          <a:prstGeom prst="rect">
            <a:avLst/>
          </a:prstGeom>
          <a:noFill/>
        </p:spPr>
        <p:txBody>
          <a:bodyPr wrap="square" anchor="t" lIns="0" rIns="0" tIns="0" bIns="0">
            <a:spAutoFit/>
          </a:bodyPr>
          <a:lstStyle/>
          <a:p>
            <a:pPr algn="ctr">
              <a:lnSpc>
                <a:spcPct val="95000"/>
              </a:lnSpc>
            </a:pPr>
            <a:r>
              <a:rPr sz="1100" b="1">
                <a:solidFill>
                  <a:srgbClr val="E50056"/>
                </a:solidFill>
                <a:latin typeface="Courier New"/>
              </a:rPr>
              <a:t>01</a:t>
            </a:r>
          </a:p>
        </p:txBody>
      </p:sp>
      <p:sp>
        <p:nvSpPr>
          <p:cNvPr id="18" name="TextBox 17"/>
          <p:cNvSpPr txBox="1"/>
          <p:nvPr/>
        </p:nvSpPr>
        <p:spPr>
          <a:xfrm>
            <a:off x="1389888" y="3054096"/>
            <a:ext cx="10058400" cy="411480"/>
          </a:xfrm>
          <a:prstGeom prst="rect">
            <a:avLst/>
          </a:prstGeom>
          <a:noFill/>
        </p:spPr>
        <p:txBody>
          <a:bodyPr wrap="square" anchor="t" lIns="0" rIns="0" tIns="0" bIns="0">
            <a:spAutoFit/>
          </a:bodyPr>
          <a:lstStyle/>
          <a:p>
            <a:pPr algn="l">
              <a:lnSpc>
                <a:spcPct val="110000"/>
              </a:lnSpc>
            </a:pPr>
            <a:r>
              <a:rPr sz="1500" b="0">
                <a:solidFill>
                  <a:srgbClr val="FFFFFF"/>
                </a:solidFill>
                <a:latin typeface="Arial"/>
              </a:rPr>
              <a:t>Kies </a:t>
            </a:r>
            <a:r>
              <a:rPr sz="1500" b="1">
                <a:solidFill>
                  <a:srgbClr val="FFFFFF"/>
                </a:solidFill>
                <a:latin typeface="Arial"/>
              </a:rPr>
              <a:t>één persoon</a:t>
            </a:r>
            <a:r>
              <a:rPr sz="1500" b="0">
                <a:solidFill>
                  <a:srgbClr val="FFFFFF"/>
                </a:solidFill>
                <a:latin typeface="Arial"/>
              </a:rPr>
              <a:t> uit je ketting van net.</a:t>
            </a:r>
          </a:p>
        </p:txBody>
      </p:sp>
      <p:sp>
        <p:nvSpPr>
          <p:cNvPr id="19" name="Rectangle 18"/>
          <p:cNvSpPr/>
          <p:nvPr/>
        </p:nvSpPr>
        <p:spPr>
          <a:xfrm>
            <a:off x="822960" y="3584448"/>
            <a:ext cx="384048"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685032"/>
            <a:ext cx="384048" cy="274320"/>
          </a:xfrm>
          <a:prstGeom prst="rect">
            <a:avLst/>
          </a:prstGeom>
          <a:noFill/>
        </p:spPr>
        <p:txBody>
          <a:bodyPr wrap="square" anchor="t" lIns="0" rIns="0" tIns="0" bIns="0">
            <a:spAutoFit/>
          </a:bodyPr>
          <a:lstStyle/>
          <a:p>
            <a:pPr algn="ctr">
              <a:lnSpc>
                <a:spcPct val="95000"/>
              </a:lnSpc>
            </a:pPr>
            <a:r>
              <a:rPr sz="1100" b="1">
                <a:solidFill>
                  <a:srgbClr val="E50056"/>
                </a:solidFill>
                <a:latin typeface="Courier New"/>
              </a:rPr>
              <a:t>02</a:t>
            </a:r>
          </a:p>
        </p:txBody>
      </p:sp>
      <p:sp>
        <p:nvSpPr>
          <p:cNvPr id="21" name="TextBox 20"/>
          <p:cNvSpPr txBox="1"/>
          <p:nvPr/>
        </p:nvSpPr>
        <p:spPr>
          <a:xfrm>
            <a:off x="1389888" y="3621024"/>
            <a:ext cx="10058400" cy="411480"/>
          </a:xfrm>
          <a:prstGeom prst="rect">
            <a:avLst/>
          </a:prstGeom>
          <a:noFill/>
        </p:spPr>
        <p:txBody>
          <a:bodyPr wrap="square" anchor="t" lIns="0" rIns="0" tIns="0" bIns="0">
            <a:spAutoFit/>
          </a:bodyPr>
          <a:lstStyle/>
          <a:p>
            <a:pPr algn="l">
              <a:lnSpc>
                <a:spcPct val="110000"/>
              </a:lnSpc>
            </a:pPr>
            <a:r>
              <a:rPr sz="1500" b="0">
                <a:solidFill>
                  <a:srgbClr val="FFFFFF"/>
                </a:solidFill>
                <a:latin typeface="Arial"/>
              </a:rPr>
              <a:t>Wat laat je opdrachtgever die persoon zien? </a:t>
            </a:r>
            <a:r>
              <a:rPr sz="1500" b="1">
                <a:solidFill>
                  <a:srgbClr val="FFFFFF"/>
                </a:solidFill>
                <a:latin typeface="Arial"/>
              </a:rPr>
              <a:t>Eén pagina, één cijfer, één plaatje</a:t>
            </a:r>
            <a:r>
              <a:rPr sz="1500" b="0">
                <a:solidFill>
                  <a:srgbClr val="FFFFFF"/>
                </a:solidFill>
                <a:latin typeface="Arial"/>
              </a:rPr>
              <a:t>.</a:t>
            </a:r>
          </a:p>
        </p:txBody>
      </p:sp>
      <p:sp>
        <p:nvSpPr>
          <p:cNvPr id="22" name="Rectangle 21"/>
          <p:cNvSpPr/>
          <p:nvPr/>
        </p:nvSpPr>
        <p:spPr>
          <a:xfrm>
            <a:off x="822960" y="4151376"/>
            <a:ext cx="384048"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251960"/>
            <a:ext cx="384048" cy="274320"/>
          </a:xfrm>
          <a:prstGeom prst="rect">
            <a:avLst/>
          </a:prstGeom>
          <a:noFill/>
        </p:spPr>
        <p:txBody>
          <a:bodyPr wrap="square" anchor="t" lIns="0" rIns="0" tIns="0" bIns="0">
            <a:spAutoFit/>
          </a:bodyPr>
          <a:lstStyle/>
          <a:p>
            <a:pPr algn="ctr">
              <a:lnSpc>
                <a:spcPct val="95000"/>
              </a:lnSpc>
            </a:pPr>
            <a:r>
              <a:rPr sz="1100" b="1">
                <a:solidFill>
                  <a:srgbClr val="E50056"/>
                </a:solidFill>
                <a:latin typeface="Courier New"/>
              </a:rPr>
              <a:t>03</a:t>
            </a:r>
          </a:p>
        </p:txBody>
      </p:sp>
      <p:sp>
        <p:nvSpPr>
          <p:cNvPr id="24" name="TextBox 23"/>
          <p:cNvSpPr txBox="1"/>
          <p:nvPr/>
        </p:nvSpPr>
        <p:spPr>
          <a:xfrm>
            <a:off x="1389888" y="4187952"/>
            <a:ext cx="10058400" cy="411480"/>
          </a:xfrm>
          <a:prstGeom prst="rect">
            <a:avLst/>
          </a:prstGeom>
          <a:noFill/>
        </p:spPr>
        <p:txBody>
          <a:bodyPr wrap="square" anchor="t" lIns="0" rIns="0" tIns="0" bIns="0">
            <a:spAutoFit/>
          </a:bodyPr>
          <a:lstStyle/>
          <a:p>
            <a:pPr algn="l">
              <a:lnSpc>
                <a:spcPct val="110000"/>
              </a:lnSpc>
            </a:pPr>
            <a:r>
              <a:rPr sz="1500" b="0">
                <a:solidFill>
                  <a:srgbClr val="FFFFFF"/>
                </a:solidFill>
                <a:latin typeface="Arial"/>
              </a:rPr>
              <a:t>Schrijf de </a:t>
            </a:r>
            <a:r>
              <a:rPr sz="1500" b="1">
                <a:solidFill>
                  <a:srgbClr val="FFFFFF"/>
                </a:solidFill>
                <a:latin typeface="Arial"/>
              </a:rPr>
              <a:t>zin</a:t>
            </a:r>
            <a:r>
              <a:rPr sz="1500" b="0">
                <a:solidFill>
                  <a:srgbClr val="FFFFFF"/>
                </a:solidFill>
                <a:latin typeface="Arial"/>
              </a:rPr>
              <a:t> erbij die je opdrachtgever erover zegt.</a:t>
            </a:r>
          </a:p>
        </p:txBody>
      </p:sp>
      <p:sp>
        <p:nvSpPr>
          <p:cNvPr id="25" name="TextBox 24"/>
          <p:cNvSpPr txBox="1"/>
          <p:nvPr/>
        </p:nvSpPr>
        <p:spPr>
          <a:xfrm>
            <a:off x="822960" y="4983480"/>
            <a:ext cx="10515600" cy="457200"/>
          </a:xfrm>
          <a:prstGeom prst="rect">
            <a:avLst/>
          </a:prstGeom>
          <a:noFill/>
        </p:spPr>
        <p:txBody>
          <a:bodyPr wrap="square" anchor="t" lIns="0" rIns="0" tIns="0" bIns="0">
            <a:spAutoFit/>
          </a:bodyPr>
          <a:lstStyle/>
          <a:p>
            <a:pPr algn="l">
              <a:lnSpc>
                <a:spcPct val="95000"/>
              </a:lnSpc>
            </a:pPr>
            <a:r>
              <a:rPr sz="1400" b="0">
                <a:solidFill>
                  <a:srgbClr val="FFFFFF"/>
                </a:solidFill>
                <a:latin typeface="Arial"/>
              </a:rPr>
              <a:t>Toets: stelt je toetser meteen de vraag die jij had opgeschreven?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809244" cy="78638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809244" cy="274320"/>
          </a:xfrm>
          <a:prstGeom prst="rect">
            <a:avLst/>
          </a:prstGeom>
          <a:noFill/>
        </p:spPr>
        <p:txBody>
          <a:bodyPr wrap="square" anchor="t" lIns="0" rIns="0" tIns="0" bIns="0">
            <a:spAutoFit/>
          </a:bodyPr>
          <a:lstStyle/>
          <a:p>
            <a:pPr algn="ctr">
              <a:lnSpc>
                <a:spcPct val="95000"/>
              </a:lnSpc>
            </a:pPr>
            <a:r>
              <a:rPr sz="1100" b="1">
                <a:solidFill>
                  <a:srgbClr val="FFFFFF"/>
                </a:solidFill>
                <a:latin typeface="Courier New"/>
              </a:rPr>
              <a:t>DELEN</a:t>
            </a:r>
          </a:p>
        </p:txBody>
      </p:sp>
      <p:sp>
        <p:nvSpPr>
          <p:cNvPr id="7" name="TextBox 6"/>
          <p:cNvSpPr txBox="1"/>
          <p:nvPr/>
        </p:nvSpPr>
        <p:spPr>
          <a:xfrm>
            <a:off x="2811780"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04 · LAAT MAAR ZIEN</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3 PITCHES</a:t>
            </a:r>
          </a:p>
        </p:txBody>
      </p:sp>
      <p:sp>
        <p:nvSpPr>
          <p:cNvPr id="9" name="Rectangle 8"/>
          <p:cNvSpPr/>
          <p:nvPr/>
        </p:nvSpPr>
        <p:spPr>
          <a:xfrm>
            <a:off x="0" y="6272784"/>
            <a:ext cx="12191695"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757575"/>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000000"/>
                </a:solidFill>
                <a:latin typeface="Courier New"/>
              </a:rPr>
              <a:t>07 / 08</a:t>
            </a:r>
          </a:p>
        </p:txBody>
      </p:sp>
      <p:sp>
        <p:nvSpPr>
          <p:cNvPr id="13" name="TextBox 12"/>
          <p:cNvSpPr txBox="1"/>
          <p:nvPr/>
        </p:nvSpPr>
        <p:spPr>
          <a:xfrm>
            <a:off x="822960" y="1188720"/>
            <a:ext cx="10515600" cy="822960"/>
          </a:xfrm>
          <a:prstGeom prst="rect">
            <a:avLst/>
          </a:prstGeom>
          <a:noFill/>
        </p:spPr>
        <p:txBody>
          <a:bodyPr wrap="square" anchor="t" lIns="0" rIns="0" tIns="0" bIns="0">
            <a:spAutoFit/>
          </a:bodyPr>
          <a:lstStyle/>
          <a:p>
            <a:pPr algn="l">
              <a:lnSpc>
                <a:spcPct val="95000"/>
              </a:lnSpc>
            </a:pPr>
            <a:r>
              <a:rPr sz="3600" b="0">
                <a:solidFill>
                  <a:srgbClr val="000000"/>
                </a:solidFill>
                <a:latin typeface="Arial Black"/>
              </a:rPr>
              <a:t>WIE LAAT ER ÉÉN ZIEN?</a:t>
            </a:r>
          </a:p>
        </p:txBody>
      </p:sp>
      <p:sp>
        <p:nvSpPr>
          <p:cNvPr id="14" name="Rectangle 13"/>
          <p:cNvSpPr/>
          <p:nvPr/>
        </p:nvSpPr>
        <p:spPr>
          <a:xfrm>
            <a:off x="822960" y="2286000"/>
            <a:ext cx="10515600" cy="5029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2926079"/>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 y="2788920"/>
            <a:ext cx="10058400" cy="457200"/>
          </a:xfrm>
          <a:prstGeom prst="rect">
            <a:avLst/>
          </a:prstGeom>
          <a:noFill/>
        </p:spPr>
        <p:txBody>
          <a:bodyPr wrap="square" anchor="t" lIns="0" rIns="0" tIns="0" bIns="0">
            <a:spAutoFit/>
          </a:bodyPr>
          <a:lstStyle/>
          <a:p>
            <a:pPr algn="l">
              <a:lnSpc>
                <a:spcPct val="110000"/>
              </a:lnSpc>
            </a:pPr>
            <a:r>
              <a:rPr sz="1600" b="0">
                <a:solidFill>
                  <a:srgbClr val="000000"/>
                </a:solidFill>
                <a:latin typeface="Arial"/>
              </a:rPr>
              <a:t>Drie fragmenten, </a:t>
            </a:r>
            <a:r>
              <a:rPr sz="1600" b="1">
                <a:solidFill>
                  <a:srgbClr val="000000"/>
                </a:solidFill>
                <a:latin typeface="Arial"/>
              </a:rPr>
              <a:t>30 seconden</a:t>
            </a:r>
            <a:r>
              <a:rPr sz="1600" b="0">
                <a:solidFill>
                  <a:srgbClr val="000000"/>
                </a:solidFill>
                <a:latin typeface="Arial"/>
              </a:rPr>
              <a:t> per persoon.</a:t>
            </a:r>
          </a:p>
        </p:txBody>
      </p:sp>
      <p:sp>
        <p:nvSpPr>
          <p:cNvPr id="17" name="Rectangle 16"/>
          <p:cNvSpPr/>
          <p:nvPr/>
        </p:nvSpPr>
        <p:spPr>
          <a:xfrm>
            <a:off x="822960" y="3493008"/>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34440" y="3355848"/>
            <a:ext cx="10058400" cy="457200"/>
          </a:xfrm>
          <a:prstGeom prst="rect">
            <a:avLst/>
          </a:prstGeom>
          <a:noFill/>
        </p:spPr>
        <p:txBody>
          <a:bodyPr wrap="square" anchor="t" lIns="0" rIns="0" tIns="0" bIns="0">
            <a:spAutoFit/>
          </a:bodyPr>
          <a:lstStyle/>
          <a:p>
            <a:pPr algn="l">
              <a:lnSpc>
                <a:spcPct val="110000"/>
              </a:lnSpc>
            </a:pPr>
            <a:r>
              <a:rPr sz="1600" b="0">
                <a:solidFill>
                  <a:srgbClr val="000000"/>
                </a:solidFill>
                <a:latin typeface="Arial"/>
              </a:rPr>
              <a:t>Zeg: </a:t>
            </a:r>
            <a:r>
              <a:rPr sz="1600" b="1">
                <a:solidFill>
                  <a:srgbClr val="000000"/>
                </a:solidFill>
                <a:latin typeface="Arial"/>
              </a:rPr>
              <a:t>voor wie, in welke context</a:t>
            </a:r>
            <a:r>
              <a:rPr sz="1600" b="0">
                <a:solidFill>
                  <a:srgbClr val="000000"/>
                </a:solidFill>
                <a:latin typeface="Arial"/>
              </a:rPr>
              <a:t>, en welke vraag het beantwoordt.</a:t>
            </a:r>
          </a:p>
        </p:txBody>
      </p:sp>
      <p:sp>
        <p:nvSpPr>
          <p:cNvPr id="19" name="Rectangle 18"/>
          <p:cNvSpPr/>
          <p:nvPr/>
        </p:nvSpPr>
        <p:spPr>
          <a:xfrm>
            <a:off x="822960" y="4059935"/>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3922776"/>
            <a:ext cx="10058400" cy="457200"/>
          </a:xfrm>
          <a:prstGeom prst="rect">
            <a:avLst/>
          </a:prstGeom>
          <a:noFill/>
        </p:spPr>
        <p:txBody>
          <a:bodyPr wrap="square" anchor="t" lIns="0" rIns="0" tIns="0" bIns="0">
            <a:spAutoFit/>
          </a:bodyPr>
          <a:lstStyle/>
          <a:p>
            <a:pPr algn="l">
              <a:lnSpc>
                <a:spcPct val="110000"/>
              </a:lnSpc>
            </a:pPr>
            <a:r>
              <a:rPr sz="1600" b="0">
                <a:solidFill>
                  <a:srgbClr val="000000"/>
                </a:solidFill>
                <a:latin typeface="Arial"/>
              </a:rPr>
              <a:t>De groep zegt daarna of ze </a:t>
            </a:r>
            <a:r>
              <a:rPr sz="1600" b="1">
                <a:solidFill>
                  <a:srgbClr val="000000"/>
                </a:solidFill>
                <a:latin typeface="Arial"/>
              </a:rPr>
              <a:t>die vraag echt beantwoord zien</a:t>
            </a:r>
            <a:r>
              <a:rPr sz="1600" b="0">
                <a:solidFill>
                  <a:srgbClr val="000000"/>
                </a:solidFill>
                <a:latin typeface="Arial"/>
              </a:rPr>
              <a:t>.</a:t>
            </a:r>
          </a:p>
        </p:txBody>
      </p:sp>
      <p:sp>
        <p:nvSpPr>
          <p:cNvPr id="21" name="TextBox 20"/>
          <p:cNvSpPr txBox="1"/>
          <p:nvPr/>
        </p:nvSpPr>
        <p:spPr>
          <a:xfrm>
            <a:off x="822960" y="4846320"/>
            <a:ext cx="10515600" cy="640080"/>
          </a:xfrm>
          <a:prstGeom prst="rect">
            <a:avLst/>
          </a:prstGeom>
          <a:noFill/>
        </p:spPr>
        <p:txBody>
          <a:bodyPr wrap="square" anchor="t" lIns="0" rIns="0" tIns="0" bIns="0">
            <a:spAutoFit/>
          </a:bodyPr>
          <a:lstStyle/>
          <a:p>
            <a:pPr algn="l">
              <a:lnSpc>
                <a:spcPct val="95000"/>
              </a:lnSpc>
            </a:pPr>
            <a:r>
              <a:rPr sz="1900" b="1">
                <a:solidFill>
                  <a:srgbClr val="000000"/>
                </a:solidFill>
                <a:latin typeface="Arial"/>
              </a:rPr>
              <a:t>De groep zit er onbevangen in. Dat is precies wat je nodig hebt.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905256" cy="78638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905256" cy="274320"/>
          </a:xfrm>
          <a:prstGeom prst="rect">
            <a:avLst/>
          </a:prstGeom>
          <a:noFill/>
        </p:spPr>
        <p:txBody>
          <a:bodyPr wrap="square" anchor="t" lIns="0" rIns="0" tIns="0" bIns="0">
            <a:spAutoFit/>
          </a:bodyPr>
          <a:lstStyle/>
          <a:p>
            <a:pPr algn="ctr">
              <a:lnSpc>
                <a:spcPct val="95000"/>
              </a:lnSpc>
            </a:pPr>
            <a:r>
              <a:rPr sz="1100" b="1">
                <a:solidFill>
                  <a:srgbClr val="FFFFFF"/>
                </a:solidFill>
                <a:latin typeface="Courier New"/>
              </a:rPr>
              <a:t>WAT NU</a:t>
            </a:r>
          </a:p>
        </p:txBody>
      </p:sp>
      <p:sp>
        <p:nvSpPr>
          <p:cNvPr id="7" name="TextBox 6"/>
          <p:cNvSpPr txBox="1"/>
          <p:nvPr/>
        </p:nvSpPr>
        <p:spPr>
          <a:xfrm>
            <a:off x="2907791"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IN JE PLAN VAN AANPAK</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TOT SLOT</a:t>
            </a:r>
          </a:p>
        </p:txBody>
      </p:sp>
      <p:sp>
        <p:nvSpPr>
          <p:cNvPr id="9" name="Rectangle 8"/>
          <p:cNvSpPr/>
          <p:nvPr/>
        </p:nvSpPr>
        <p:spPr>
          <a:xfrm>
            <a:off x="0" y="6272784"/>
            <a:ext cx="12191695"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757575"/>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000000"/>
                </a:solidFill>
                <a:latin typeface="Courier New"/>
              </a:rPr>
              <a:t>08 / 08</a:t>
            </a:r>
          </a:p>
        </p:txBody>
      </p:sp>
      <p:sp>
        <p:nvSpPr>
          <p:cNvPr id="13" name="TextBox 12"/>
          <p:cNvSpPr txBox="1"/>
          <p:nvPr/>
        </p:nvSpPr>
        <p:spPr>
          <a:xfrm>
            <a:off x="822960" y="1188720"/>
            <a:ext cx="10515600" cy="822960"/>
          </a:xfrm>
          <a:prstGeom prst="rect">
            <a:avLst/>
          </a:prstGeom>
          <a:noFill/>
        </p:spPr>
        <p:txBody>
          <a:bodyPr wrap="square" anchor="t" lIns="0" rIns="0" tIns="0" bIns="0">
            <a:spAutoFit/>
          </a:bodyPr>
          <a:lstStyle/>
          <a:p>
            <a:pPr algn="l">
              <a:lnSpc>
                <a:spcPct val="95000"/>
              </a:lnSpc>
            </a:pPr>
            <a:r>
              <a:rPr sz="3600" b="0">
                <a:solidFill>
                  <a:srgbClr val="000000"/>
                </a:solidFill>
                <a:latin typeface="Arial Black"/>
              </a:rPr>
              <a:t>NEEM JE KETTING MEE.</a:t>
            </a:r>
          </a:p>
        </p:txBody>
      </p:sp>
      <p:sp>
        <p:nvSpPr>
          <p:cNvPr id="14" name="Rectangle 13"/>
          <p:cNvSpPr/>
          <p:nvPr/>
        </p:nvSpPr>
        <p:spPr>
          <a:xfrm>
            <a:off x="822960" y="2286000"/>
            <a:ext cx="10515600" cy="5029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2743200"/>
            <a:ext cx="4937760" cy="2011680"/>
          </a:xfrm>
          <a:prstGeom prst="rect">
            <a:avLst/>
          </a:prstGeom>
          <a:solidFill>
            <a:srgbClr val="FFFFFF"/>
          </a:solidFill>
          <a:ln w="381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992" y="2944368"/>
            <a:ext cx="4480560" cy="274320"/>
          </a:xfrm>
          <a:prstGeom prst="rect">
            <a:avLst/>
          </a:prstGeom>
          <a:noFill/>
        </p:spPr>
        <p:txBody>
          <a:bodyPr wrap="square" anchor="t" lIns="0" rIns="0" tIns="0" bIns="0">
            <a:spAutoFit/>
          </a:bodyPr>
          <a:lstStyle/>
          <a:p>
            <a:pPr algn="l">
              <a:lnSpc>
                <a:spcPct val="95000"/>
              </a:lnSpc>
            </a:pPr>
            <a:r>
              <a:rPr sz="1200" b="1">
                <a:solidFill>
                  <a:srgbClr val="000000"/>
                </a:solidFill>
                <a:latin typeface="Arial"/>
              </a:rPr>
              <a:t>IN JE PLAN VAN AANPAK</a:t>
            </a:r>
          </a:p>
        </p:txBody>
      </p:sp>
      <p:sp>
        <p:nvSpPr>
          <p:cNvPr id="17" name="Rectangle 16"/>
          <p:cNvSpPr/>
          <p:nvPr/>
        </p:nvSpPr>
        <p:spPr>
          <a:xfrm>
            <a:off x="1078992" y="3520440"/>
            <a:ext cx="201168" cy="4572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89888" y="3401568"/>
            <a:ext cx="4114800" cy="365760"/>
          </a:xfrm>
          <a:prstGeom prst="rect">
            <a:avLst/>
          </a:prstGeom>
          <a:noFill/>
        </p:spPr>
        <p:txBody>
          <a:bodyPr wrap="square" anchor="t" lIns="0" rIns="0" tIns="0" bIns="0">
            <a:spAutoFit/>
          </a:bodyPr>
          <a:lstStyle/>
          <a:p>
            <a:pPr algn="l">
              <a:lnSpc>
                <a:spcPct val="95000"/>
              </a:lnSpc>
            </a:pPr>
            <a:r>
              <a:rPr sz="1400" b="0">
                <a:solidFill>
                  <a:srgbClr val="000000"/>
                </a:solidFill>
                <a:latin typeface="Arial"/>
              </a:rPr>
              <a:t/>
            </a:r>
            <a:r>
              <a:rPr sz="1400" b="1">
                <a:solidFill>
                  <a:srgbClr val="000000"/>
                </a:solidFill>
                <a:latin typeface="Arial"/>
              </a:rPr>
              <a:t>Wie</a:t>
            </a:r>
            <a:r>
              <a:rPr sz="1400" b="0">
                <a:solidFill>
                  <a:srgbClr val="000000"/>
                </a:solidFill>
                <a:latin typeface="Arial"/>
              </a:rPr>
              <a:t> krijgt het na je opdrachtgever?</a:t>
            </a:r>
          </a:p>
        </p:txBody>
      </p:sp>
      <p:sp>
        <p:nvSpPr>
          <p:cNvPr id="19" name="Rectangle 18"/>
          <p:cNvSpPr/>
          <p:nvPr/>
        </p:nvSpPr>
        <p:spPr>
          <a:xfrm>
            <a:off x="1078992" y="3941064"/>
            <a:ext cx="201168" cy="4572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89888" y="3822192"/>
            <a:ext cx="4114800" cy="365760"/>
          </a:xfrm>
          <a:prstGeom prst="rect">
            <a:avLst/>
          </a:prstGeom>
          <a:noFill/>
        </p:spPr>
        <p:txBody>
          <a:bodyPr wrap="square" anchor="t" lIns="0" rIns="0" tIns="0" bIns="0">
            <a:spAutoFit/>
          </a:bodyPr>
          <a:lstStyle/>
          <a:p>
            <a:pPr algn="l">
              <a:lnSpc>
                <a:spcPct val="95000"/>
              </a:lnSpc>
            </a:pPr>
            <a:r>
              <a:rPr sz="1400" b="0">
                <a:solidFill>
                  <a:srgbClr val="000000"/>
                </a:solidFill>
                <a:latin typeface="Arial"/>
              </a:rPr>
              <a:t>In welke </a:t>
            </a:r>
            <a:r>
              <a:rPr sz="1400" b="1">
                <a:solidFill>
                  <a:srgbClr val="000000"/>
                </a:solidFill>
                <a:latin typeface="Arial"/>
              </a:rPr>
              <a:t>context</a:t>
            </a:r>
            <a:r>
              <a:rPr sz="1400" b="0">
                <a:solidFill>
                  <a:srgbClr val="000000"/>
                </a:solidFill>
                <a:latin typeface="Arial"/>
              </a:rPr>
              <a:t>?</a:t>
            </a:r>
          </a:p>
        </p:txBody>
      </p:sp>
      <p:sp>
        <p:nvSpPr>
          <p:cNvPr id="21" name="Rectangle 20"/>
          <p:cNvSpPr/>
          <p:nvPr/>
        </p:nvSpPr>
        <p:spPr>
          <a:xfrm>
            <a:off x="1078992" y="4361688"/>
            <a:ext cx="201168" cy="4572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89888" y="4242816"/>
            <a:ext cx="4114800" cy="365760"/>
          </a:xfrm>
          <a:prstGeom prst="rect">
            <a:avLst/>
          </a:prstGeom>
          <a:noFill/>
        </p:spPr>
        <p:txBody>
          <a:bodyPr wrap="square" anchor="t" lIns="0" rIns="0" tIns="0" bIns="0">
            <a:spAutoFit/>
          </a:bodyPr>
          <a:lstStyle/>
          <a:p>
            <a:pPr algn="l">
              <a:lnSpc>
                <a:spcPct val="95000"/>
              </a:lnSpc>
            </a:pPr>
            <a:r>
              <a:rPr sz="1400" b="0">
                <a:solidFill>
                  <a:srgbClr val="000000"/>
                </a:solidFill>
                <a:latin typeface="Arial"/>
              </a:rPr>
              <a:t>Wat heb je </a:t>
            </a:r>
            <a:r>
              <a:rPr sz="1400" b="1">
                <a:solidFill>
                  <a:srgbClr val="000000"/>
                </a:solidFill>
                <a:latin typeface="Arial"/>
              </a:rPr>
              <a:t>voor die persoon</a:t>
            </a:r>
            <a:r>
              <a:rPr sz="1400" b="0">
                <a:solidFill>
                  <a:srgbClr val="000000"/>
                </a:solidFill>
                <a:latin typeface="Arial"/>
              </a:rPr>
              <a:t> gemaakt?</a:t>
            </a:r>
          </a:p>
        </p:txBody>
      </p:sp>
      <p:sp>
        <p:nvSpPr>
          <p:cNvPr id="23" name="Rectangle 22"/>
          <p:cNvSpPr/>
          <p:nvPr/>
        </p:nvSpPr>
        <p:spPr>
          <a:xfrm>
            <a:off x="6446520" y="2743200"/>
            <a:ext cx="4937760" cy="2011680"/>
          </a:xfrm>
          <a:prstGeom prst="rect">
            <a:avLst/>
          </a:prstGeom>
          <a:solidFill>
            <a:srgbClr val="FFFFFF"/>
          </a:solidFill>
          <a:ln w="38100">
            <a:solidFill>
              <a:srgbClr val="E500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2552" y="2944368"/>
            <a:ext cx="4480560" cy="274320"/>
          </a:xfrm>
          <a:prstGeom prst="rect">
            <a:avLst/>
          </a:prstGeom>
          <a:noFill/>
        </p:spPr>
        <p:txBody>
          <a:bodyPr wrap="square" anchor="t" lIns="0" rIns="0" tIns="0" bIns="0">
            <a:spAutoFit/>
          </a:bodyPr>
          <a:lstStyle/>
          <a:p>
            <a:pPr algn="l">
              <a:lnSpc>
                <a:spcPct val="95000"/>
              </a:lnSpc>
            </a:pPr>
            <a:r>
              <a:rPr sz="1200" b="1">
                <a:solidFill>
                  <a:srgbClr val="E50056"/>
                </a:solidFill>
                <a:latin typeface="Arial"/>
              </a:rPr>
              <a:t>EN DOE DIT</a:t>
            </a:r>
          </a:p>
        </p:txBody>
      </p:sp>
      <p:sp>
        <p:nvSpPr>
          <p:cNvPr id="25" name="TextBox 24"/>
          <p:cNvSpPr txBox="1"/>
          <p:nvPr/>
        </p:nvSpPr>
        <p:spPr>
          <a:xfrm>
            <a:off x="6702552" y="3383280"/>
            <a:ext cx="4434840" cy="731520"/>
          </a:xfrm>
          <a:prstGeom prst="rect">
            <a:avLst/>
          </a:prstGeom>
          <a:noFill/>
        </p:spPr>
        <p:txBody>
          <a:bodyPr wrap="square" anchor="t" lIns="0" rIns="0" tIns="0" bIns="0">
            <a:spAutoFit/>
          </a:bodyPr>
          <a:lstStyle/>
          <a:p>
            <a:pPr algn="l">
              <a:lnSpc>
                <a:spcPct val="115000"/>
              </a:lnSpc>
            </a:pPr>
            <a:r>
              <a:rPr sz="1700" b="1">
                <a:solidFill>
                  <a:srgbClr val="000000"/>
                </a:solidFill>
                <a:latin typeface="Arial"/>
              </a:rPr>
              <a:t>Vraag je opdrachtgever: met wie ga jij dit delen?</a:t>
            </a:r>
          </a:p>
        </p:txBody>
      </p:sp>
      <p:sp>
        <p:nvSpPr>
          <p:cNvPr id="26" name="TextBox 25"/>
          <p:cNvSpPr txBox="1"/>
          <p:nvPr/>
        </p:nvSpPr>
        <p:spPr>
          <a:xfrm>
            <a:off x="6702552" y="4160520"/>
            <a:ext cx="4434840" cy="731520"/>
          </a:xfrm>
          <a:prstGeom prst="rect">
            <a:avLst/>
          </a:prstGeom>
          <a:noFill/>
        </p:spPr>
        <p:txBody>
          <a:bodyPr wrap="square" anchor="t" lIns="0" rIns="0" tIns="0" bIns="0">
            <a:spAutoFit/>
          </a:bodyPr>
          <a:lstStyle/>
          <a:p>
            <a:pPr algn="l">
              <a:lnSpc>
                <a:spcPct val="120000"/>
              </a:lnSpc>
            </a:pPr>
            <a:r>
              <a:rPr sz="1300" b="0">
                <a:solidFill>
                  <a:srgbClr val="454545"/>
                </a:solidFill>
                <a:latin typeface="Arial"/>
              </a:rPr>
              <a:t>Negen van de tien keer krijg je een antwoord waar je niet op had gerekend.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