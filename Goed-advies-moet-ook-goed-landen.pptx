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Wij hebben tien minuten en drie dingen te vertellen. Waarom wij dit op tafel leggen, hoe het volgens ons zou kunnen, en wat wij jullie willen vragen. Dat laatste is een uitnodiging, geen voorstel tot beleid.  [Richttijd 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Wij hoeven hier niets nieuws af te spreken, want het staat al in ons eigen kader. Eindcriterium 6 vraagt letterlijk om communicatie die doelbewust is en afgestemd op de doelgroep. Let op dat woord doelbewust: dat veronderstelt dat er iets te kiezen viel. En kijk naar wat onderscheidend heet: overtuigend beargumenteren, en nieuwe perspectieven openen. Dat zijn communicatie-effecten, geen inhoudseisen.  [Richttijd 1:50]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toch krijgen wij bijna altijd hetzelfde terug: een verslag van enkele tientallen pagina's. Dat is niet gek, dat is wat wij vier jaar lang hebben geoefend en beloond. Maar hier zit het probleem. Als er maar een vorm denkbaar is, dan is die vorm geen keuze maar een reflex. En een reflex kun je niet beoordelen op doelbewustheid. Buiten de opleiding is de vorm een keuze. Soms is dat wel degelijk een lang stuk, denk aan overheidsorganisaties, maar dan is het gekozen. Van studenten krijgen wij alleen dat lange rapport.  [Richttijd 3:15]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waar het ons om gaat. Wij leiden geen rapportenschrijvers op. Wij leiden bedrijfskundigen op die iets in beweging zetten in een organisatie. En er komt niets in beweging door een rapport dat niemand leest. Dat is waarom wij dit op tafel leggen.  [Richttijd 3:45]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Hoe zou het dan kunnen? Kijk naar wat een van onze eigen studenten afgelopen mei al deed. Luca, bedrijfskunde voltijd, liep af bij het Canisius Wilhelmina Ziekenhuis. Hij leverde zevenentwintig liggende pagina's in: de managementsamenvatting en alle tien hoofdstukken, volledig visueel. Hier ziet u er drie. Links de inleiding: de opzet van het onderzoek staat in een beeld, dus de lezer weet binnen tien seconden waar hij is. In het midden de resultaten: positief, aandachtspunt en kritiek punt staan naast elkaar met scores erbij, dus vergelijken kost geen alinea's meer. Rechts een advies: met scenario's, kosten en risico's op een plaat, klaar om in een MT te bespreken. En dit is het punt: in deze zevenentwintig pagina's stond alles wat wij nodig hadden om te beoordelen. OPTIONEEL, als u de tijd heeft: hij leverde daarnaast nog ruim driehonderd pagina's traditionele uitwerking in. Niet omdat wij daarom vroegen, maar voor de zekerheid. Die voorzichtigheid hebben wij hem in vier jaar aangeleerd.  [Richttijd 5:55]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het leverde het ziekenhuis iets op dat blijft. Luca schreef namelijk geen rapport, hij bouwde een instrument: het Zorgtechnologie-Waarde Model. Negentien criteria, verdeeld over knock-outs en gewogen factoren, met aan het eind een expliciet go of no-go moment. Daarmee kan het CWZ elke volgende technologische investering langs dezelfde meetlat leggen. Het model blijft dus werken nadat hij weg is. Kijk dan nog even terug naar criterium 6, score 3: nieuwe perspectieven op langere termijn voor de organisatie en de sector. Dat is precies dit. Een advies is na een half jaar oud, een instrument niet.  [Richttijd 7:45]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kunnen wij hiermee? Wij leggen jullie geen nieuw beleid voor. Wij gaan dit komend semester gewoon doen bij onze eigen afstudeerders. Wij vragen de vormkeuze op in het plan van aanpak. Wij zeggen er meteen bij dat een product volstaat, mits de herkomst van elke bewering zichtbaar is, zodat niemand uit voorzichtigheid dubbel werk gaat leveren. En wij laten de student de vorm toetsen bij de opdrachtgever. En wat wij jullie vragen is dit: kijk een keer mee bij een PvA, denk met ons mee over wat wel en niet werkt, en probeer het bij je eigen studenten en deel wat je opvalt. Dank jullie wel.  [Richttijd 10:00]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TextBox 4"/>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STARTBIJEENKOMST AFSTUDEERBEGELEIDERS</a:t>
            </a:r>
          </a:p>
        </p:txBody>
      </p:sp>
      <p:sp>
        <p:nvSpPr>
          <p:cNvPr id="6" name="Rectangle 5"/>
          <p:cNvSpPr/>
          <p:nvPr/>
        </p:nvSpPr>
        <p:spPr>
          <a:xfrm>
            <a:off x="0" y="6272784"/>
            <a:ext cx="12191695" cy="18288"/>
          </a:xfrm>
          <a:prstGeom prst="rect">
            <a:avLst/>
          </a:prstGeom>
          <a:solidFill>
            <a:srgbClr val="45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BEDRIJFSKUNDE</a:t>
            </a:r>
          </a:p>
        </p:txBody>
      </p:sp>
      <p:sp>
        <p:nvSpPr>
          <p:cNvPr id="9" name="TextBox 8"/>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01 / 07</a:t>
            </a:r>
          </a:p>
        </p:txBody>
      </p:sp>
      <p:sp>
        <p:nvSpPr>
          <p:cNvPr id="10" name="TextBox 9"/>
          <p:cNvSpPr txBox="1"/>
          <p:nvPr/>
        </p:nvSpPr>
        <p:spPr>
          <a:xfrm>
            <a:off x="822960" y="1143000"/>
            <a:ext cx="10058400" cy="365760"/>
          </a:xfrm>
          <a:prstGeom prst="rect">
            <a:avLst/>
          </a:prstGeom>
          <a:noFill/>
        </p:spPr>
        <p:txBody>
          <a:bodyPr wrap="square" anchor="t" lIns="0" rIns="0" tIns="0" bIns="0">
            <a:spAutoFit/>
          </a:bodyPr>
          <a:lstStyle/>
          <a:p>
            <a:pPr algn="l">
              <a:lnSpc>
                <a:spcPct val="95000"/>
              </a:lnSpc>
            </a:pPr>
            <a:r>
              <a:rPr sz="1300" b="1">
                <a:solidFill>
                  <a:srgbClr val="E50056"/>
                </a:solidFill>
                <a:latin typeface="Courier New"/>
              </a:rPr>
              <a:t>AFSTUDEEROPDRACHT  ·  EINDPRODUCT  ·  VORM</a:t>
            </a:r>
          </a:p>
        </p:txBody>
      </p:sp>
      <p:sp>
        <p:nvSpPr>
          <p:cNvPr id="11" name="TextBox 10"/>
          <p:cNvSpPr txBox="1"/>
          <p:nvPr/>
        </p:nvSpPr>
        <p:spPr>
          <a:xfrm>
            <a:off x="822960" y="1691640"/>
            <a:ext cx="10515600" cy="3291840"/>
          </a:xfrm>
          <a:prstGeom prst="rect">
            <a:avLst/>
          </a:prstGeom>
          <a:noFill/>
        </p:spPr>
        <p:txBody>
          <a:bodyPr wrap="square" anchor="t" lIns="0" rIns="0" tIns="0" bIns="0">
            <a:spAutoFit/>
          </a:bodyPr>
          <a:lstStyle/>
          <a:p>
            <a:pPr algn="l">
              <a:lnSpc>
                <a:spcPct val="92000"/>
              </a:lnSpc>
            </a:pPr>
            <a:r>
              <a:rPr sz="6200" b="0">
                <a:solidFill>
                  <a:srgbClr val="FFFFFF"/>
                </a:solidFill>
                <a:latin typeface="Arial Black"/>
              </a:rPr>
              <a:t>GOED ADVIES</a:t>
            </a:r>
          </a:p>
          <a:p>
            <a:pPr algn="l">
              <a:lnSpc>
                <a:spcPct val="92000"/>
              </a:lnSpc>
            </a:pPr>
            <a:r>
              <a:rPr sz="6200" b="0">
                <a:solidFill>
                  <a:srgbClr val="FFFFFF"/>
                </a:solidFill>
                <a:latin typeface="Arial Black"/>
              </a:rPr>
              <a:t>MOET OOK</a:t>
            </a:r>
          </a:p>
          <a:p>
            <a:pPr algn="l">
              <a:lnSpc>
                <a:spcPct val="92000"/>
              </a:lnSpc>
            </a:pPr>
            <a:r>
              <a:rPr sz="6200" b="0">
                <a:solidFill>
                  <a:srgbClr val="E50056"/>
                </a:solidFill>
                <a:latin typeface="Arial Black"/>
              </a:rPr>
              <a:t>GOED LANDEN</a:t>
            </a:r>
          </a:p>
        </p:txBody>
      </p:sp>
      <p:sp>
        <p:nvSpPr>
          <p:cNvPr id="12" name="TextBox 11"/>
          <p:cNvSpPr txBox="1"/>
          <p:nvPr/>
        </p:nvSpPr>
        <p:spPr>
          <a:xfrm>
            <a:off x="822960" y="5120640"/>
            <a:ext cx="7863840" cy="822960"/>
          </a:xfrm>
          <a:prstGeom prst="rect">
            <a:avLst/>
          </a:prstGeom>
          <a:noFill/>
        </p:spPr>
        <p:txBody>
          <a:bodyPr wrap="square" anchor="t" lIns="0" rIns="0" tIns="0" bIns="0">
            <a:spAutoFit/>
          </a:bodyPr>
          <a:lstStyle/>
          <a:p>
            <a:pPr algn="l">
              <a:lnSpc>
                <a:spcPct val="95000"/>
              </a:lnSpc>
            </a:pPr>
            <a:r>
              <a:rPr sz="2000" b="0">
                <a:solidFill>
                  <a:srgbClr val="E3E3E3"/>
                </a:solidFill>
                <a:latin typeface="Arial"/>
              </a:rPr>
              <a:t>Waarom wij studenten moeten leren kiezen hoe ze hun boodschap brengen.</a:t>
            </a:r>
          </a:p>
        </p:txBody>
      </p:sp>
      <p:sp>
        <p:nvSpPr>
          <p:cNvPr id="13" name="TextBox 12"/>
          <p:cNvSpPr txBox="1"/>
          <p:nvPr/>
        </p:nvSpPr>
        <p:spPr>
          <a:xfrm>
            <a:off x="6675120" y="5852160"/>
            <a:ext cx="5056632" cy="320040"/>
          </a:xfrm>
          <a:prstGeom prst="rect">
            <a:avLst/>
          </a:prstGeom>
          <a:noFill/>
        </p:spPr>
        <p:txBody>
          <a:bodyPr wrap="square" anchor="t" lIns="0" rIns="0" tIns="0" bIns="0">
            <a:spAutoFit/>
          </a:bodyPr>
          <a:lstStyle/>
          <a:p>
            <a:pPr algn="r">
              <a:lnSpc>
                <a:spcPct val="95000"/>
              </a:lnSpc>
            </a:pPr>
            <a:r>
              <a:rPr sz="1100" b="0">
                <a:solidFill>
                  <a:srgbClr val="919191"/>
                </a:solidFill>
                <a:latin typeface="Courier New"/>
              </a:rPr>
              <a:t>Judith  &amp;  Witek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617220"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617220"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WHY</a:t>
            </a:r>
          </a:p>
        </p:txBody>
      </p:sp>
      <p:sp>
        <p:nvSpPr>
          <p:cNvPr id="7" name="TextBox 6"/>
          <p:cNvSpPr txBox="1"/>
          <p:nvPr/>
        </p:nvSpPr>
        <p:spPr>
          <a:xfrm>
            <a:off x="2619756"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01 · ONS EIGEN KADER</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EINDCRITERIUM 6</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02 / 07</a:t>
            </a:r>
          </a:p>
        </p:txBody>
      </p:sp>
      <p:sp>
        <p:nvSpPr>
          <p:cNvPr id="13" name="TextBox 12"/>
          <p:cNvSpPr txBox="1"/>
          <p:nvPr/>
        </p:nvSpPr>
        <p:spPr>
          <a:xfrm>
            <a:off x="822960" y="1143000"/>
            <a:ext cx="10058400" cy="1463040"/>
          </a:xfrm>
          <a:prstGeom prst="rect">
            <a:avLst/>
          </a:prstGeom>
          <a:noFill/>
        </p:spPr>
        <p:txBody>
          <a:bodyPr wrap="square" anchor="t" lIns="0" rIns="0" tIns="0" bIns="0">
            <a:spAutoFit/>
          </a:bodyPr>
          <a:lstStyle/>
          <a:p>
            <a:pPr algn="l">
              <a:lnSpc>
                <a:spcPct val="95000"/>
              </a:lnSpc>
            </a:pPr>
            <a:r>
              <a:rPr sz="4400" b="0">
                <a:solidFill>
                  <a:srgbClr val="000000"/>
                </a:solidFill>
                <a:latin typeface="Arial Black"/>
              </a:rPr>
              <a:t>WIJ BEOORDELEN</a:t>
            </a:r>
          </a:p>
          <a:p>
            <a:pPr algn="l">
              <a:lnSpc>
                <a:spcPct val="95000"/>
              </a:lnSpc>
            </a:pPr>
            <a:r>
              <a:rPr sz="4400" b="0">
                <a:solidFill>
                  <a:srgbClr val="000000"/>
                </a:solidFill>
                <a:latin typeface="Arial Black"/>
              </a:rPr>
              <a:t>AL OP VORM.</a:t>
            </a:r>
          </a:p>
        </p:txBody>
      </p:sp>
      <p:sp>
        <p:nvSpPr>
          <p:cNvPr id="14" name="Rectangle 13"/>
          <p:cNvSpPr/>
          <p:nvPr/>
        </p:nvSpPr>
        <p:spPr>
          <a:xfrm>
            <a:off x="822960" y="26974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63240"/>
            <a:ext cx="5852160" cy="566928"/>
          </a:xfrm>
          <a:prstGeom prst="rect">
            <a:avLst/>
          </a:prstGeom>
          <a:solidFill>
            <a:srgbClr val="F8E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017520"/>
            <a:ext cx="5943600" cy="1280160"/>
          </a:xfrm>
          <a:prstGeom prst="rect">
            <a:avLst/>
          </a:prstGeom>
          <a:noFill/>
        </p:spPr>
        <p:txBody>
          <a:bodyPr wrap="square" anchor="t" lIns="0" rIns="0" tIns="0" bIns="0">
            <a:spAutoFit/>
          </a:bodyPr>
          <a:lstStyle/>
          <a:p>
            <a:pPr algn="l">
              <a:lnSpc>
                <a:spcPct val="105000"/>
              </a:lnSpc>
            </a:pPr>
            <a:r>
              <a:rPr sz="2100" b="1">
                <a:solidFill>
                  <a:srgbClr val="000000"/>
                </a:solidFill>
                <a:latin typeface="Arial"/>
              </a:rPr>
              <a:t>“Zet communicatie doelbewust in en afgestemd op de doelgroep.”</a:t>
            </a:r>
          </a:p>
        </p:txBody>
      </p:sp>
      <p:sp>
        <p:nvSpPr>
          <p:cNvPr id="17" name="TextBox 16"/>
          <p:cNvSpPr txBox="1"/>
          <p:nvPr/>
        </p:nvSpPr>
        <p:spPr>
          <a:xfrm>
            <a:off x="822960" y="4251960"/>
            <a:ext cx="5852160" cy="822960"/>
          </a:xfrm>
          <a:prstGeom prst="rect">
            <a:avLst/>
          </a:prstGeom>
          <a:noFill/>
        </p:spPr>
        <p:txBody>
          <a:bodyPr wrap="square" anchor="t" lIns="0" rIns="0" tIns="0" bIns="0">
            <a:spAutoFit/>
          </a:bodyPr>
          <a:lstStyle/>
          <a:p>
            <a:pPr algn="l">
              <a:lnSpc>
                <a:spcPct val="95000"/>
              </a:lnSpc>
            </a:pPr>
            <a:r>
              <a:rPr sz="1300" b="0">
                <a:solidFill>
                  <a:srgbClr val="757575"/>
                </a:solidFill>
                <a:latin typeface="Arial"/>
              </a:rPr>
              <a:t>Eindcriterium 6, Sociaal communicatieve vaardigheden, voldoende (score 1).</a:t>
            </a:r>
          </a:p>
        </p:txBody>
      </p:sp>
      <p:sp>
        <p:nvSpPr>
          <p:cNvPr id="18" name="Rectangle 17"/>
          <p:cNvSpPr/>
          <p:nvPr/>
        </p:nvSpPr>
        <p:spPr>
          <a:xfrm>
            <a:off x="7086600" y="3017520"/>
            <a:ext cx="4251960" cy="237744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3218688"/>
            <a:ext cx="3931920"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ONDERSCHEIDEND · SCORE 3</a:t>
            </a:r>
          </a:p>
        </p:txBody>
      </p:sp>
      <p:sp>
        <p:nvSpPr>
          <p:cNvPr id="20" name="TextBox 19"/>
          <p:cNvSpPr txBox="1"/>
          <p:nvPr/>
        </p:nvSpPr>
        <p:spPr>
          <a:xfrm>
            <a:off x="7315200" y="3657600"/>
            <a:ext cx="3931920" cy="1737360"/>
          </a:xfrm>
          <a:prstGeom prst="rect">
            <a:avLst/>
          </a:prstGeom>
          <a:noFill/>
        </p:spPr>
        <p:txBody>
          <a:bodyPr wrap="square" anchor="t" lIns="0" rIns="0" tIns="0" bIns="0">
            <a:spAutoFit/>
          </a:bodyPr>
          <a:lstStyle/>
          <a:p>
            <a:pPr algn="l">
              <a:lnSpc>
                <a:spcPct val="115000"/>
              </a:lnSpc>
            </a:pPr>
            <a:r>
              <a:rPr sz="1400" b="1">
                <a:solidFill>
                  <a:srgbClr val="000000"/>
                </a:solidFill>
                <a:latin typeface="Arial"/>
              </a:rPr>
              <a:t>Kan op overtuigende wijze beargumenteren</a:t>
            </a:r>
            <a:r>
              <a:rPr sz="1400" b="0">
                <a:solidFill>
                  <a:srgbClr val="000000"/>
                </a:solidFill>
                <a:latin typeface="Arial"/>
              </a:rPr>
              <a:t> dat het advies een daadwerkelijke oplossing is.</a:t>
            </a:r>
          </a:p>
          <a:p>
            <a:pPr algn="l">
              <a:lnSpc>
                <a:spcPct val="115000"/>
              </a:lnSpc>
            </a:pPr>
            <a:r>
              <a:rPr sz="1400" b="0">
                <a:solidFill>
                  <a:srgbClr val="000000"/>
                </a:solidFill>
                <a:latin typeface="Arial"/>
              </a:rPr>
              <a:t> </a:t>
            </a:r>
          </a:p>
          <a:p>
            <a:pPr algn="l">
              <a:lnSpc>
                <a:spcPct val="115000"/>
              </a:lnSpc>
            </a:pPr>
            <a:r>
              <a:rPr sz="1400" b="1">
                <a:solidFill>
                  <a:srgbClr val="000000"/>
                </a:solidFill>
                <a:latin typeface="Arial"/>
              </a:rPr>
              <a:t>Leidt tot nieuwe perspectieven</a:t>
            </a:r>
            <a:r>
              <a:rPr sz="1400" b="0">
                <a:solidFill>
                  <a:srgbClr val="000000"/>
                </a:solidFill>
                <a:latin typeface="Arial"/>
              </a:rPr>
              <a:t> voor de organisatie en de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617220"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617220"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WHY</a:t>
            </a:r>
          </a:p>
        </p:txBody>
      </p:sp>
      <p:sp>
        <p:nvSpPr>
          <p:cNvPr id="7" name="TextBox 6"/>
          <p:cNvSpPr txBox="1"/>
          <p:nvPr/>
        </p:nvSpPr>
        <p:spPr>
          <a:xfrm>
            <a:off x="2619756"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02 · WAT WIJ TERUGKRIJGEN</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EÉN SJABLOON, NUL KEUZES</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03 / 07</a:t>
            </a:r>
          </a:p>
        </p:txBody>
      </p:sp>
      <p:sp>
        <p:nvSpPr>
          <p:cNvPr id="13" name="TextBox 12"/>
          <p:cNvSpPr txBox="1"/>
          <p:nvPr/>
        </p:nvSpPr>
        <p:spPr>
          <a:xfrm>
            <a:off x="822960" y="1234440"/>
            <a:ext cx="5669280" cy="1371600"/>
          </a:xfrm>
          <a:prstGeom prst="rect">
            <a:avLst/>
          </a:prstGeom>
          <a:noFill/>
        </p:spPr>
        <p:txBody>
          <a:bodyPr wrap="square" anchor="t" lIns="0" rIns="0" tIns="0" bIns="0">
            <a:spAutoFit/>
          </a:bodyPr>
          <a:lstStyle/>
          <a:p>
            <a:pPr algn="l">
              <a:lnSpc>
                <a:spcPct val="95000"/>
              </a:lnSpc>
            </a:pPr>
            <a:r>
              <a:rPr sz="3600" b="0">
                <a:solidFill>
                  <a:srgbClr val="000000"/>
                </a:solidFill>
                <a:latin typeface="Arial Black"/>
              </a:rPr>
              <a:t>MAAR WIJ VRAGEN</a:t>
            </a:r>
          </a:p>
          <a:p>
            <a:pPr algn="l">
              <a:lnSpc>
                <a:spcPct val="95000"/>
              </a:lnSpc>
            </a:pPr>
            <a:r>
              <a:rPr sz="3600" b="0">
                <a:solidFill>
                  <a:srgbClr val="000000"/>
                </a:solidFill>
                <a:latin typeface="Arial Black"/>
              </a:rPr>
              <a:t>OM ÉÉN VORM.</a:t>
            </a:r>
          </a:p>
        </p:txBody>
      </p:sp>
      <p:sp>
        <p:nvSpPr>
          <p:cNvPr id="14" name="TextBox 13"/>
          <p:cNvSpPr txBox="1"/>
          <p:nvPr/>
        </p:nvSpPr>
        <p:spPr>
          <a:xfrm>
            <a:off x="822960" y="2880360"/>
            <a:ext cx="5486400" cy="1188720"/>
          </a:xfrm>
          <a:prstGeom prst="rect">
            <a:avLst/>
          </a:prstGeom>
          <a:noFill/>
        </p:spPr>
        <p:txBody>
          <a:bodyPr wrap="square" anchor="t" lIns="0" rIns="0" tIns="0" bIns="0">
            <a:spAutoFit/>
          </a:bodyPr>
          <a:lstStyle/>
          <a:p>
            <a:pPr algn="l">
              <a:lnSpc>
                <a:spcPct val="115000"/>
              </a:lnSpc>
            </a:pPr>
            <a:r>
              <a:rPr sz="1600" b="0">
                <a:solidFill>
                  <a:srgbClr val="000000"/>
                </a:solidFill>
                <a:latin typeface="Arial"/>
              </a:rPr>
              <a:t>De student kiest het veilige bekende: het verslag dat hij vier jaar lang heeft geoefend en waarvoor hij is beloond.</a:t>
            </a:r>
          </a:p>
        </p:txBody>
      </p:sp>
      <p:sp>
        <p:nvSpPr>
          <p:cNvPr id="15" name="TextBox 14"/>
          <p:cNvSpPr txBox="1"/>
          <p:nvPr/>
        </p:nvSpPr>
        <p:spPr>
          <a:xfrm>
            <a:off x="6766560" y="1097280"/>
            <a:ext cx="4572000" cy="1371600"/>
          </a:xfrm>
          <a:prstGeom prst="rect">
            <a:avLst/>
          </a:prstGeom>
          <a:noFill/>
        </p:spPr>
        <p:txBody>
          <a:bodyPr wrap="square" anchor="t" lIns="0" rIns="0" tIns="0" bIns="0">
            <a:spAutoFit/>
          </a:bodyPr>
          <a:lstStyle/>
          <a:p>
            <a:pPr algn="r">
              <a:lnSpc>
                <a:spcPct val="95000"/>
              </a:lnSpc>
            </a:pPr>
            <a:r>
              <a:rPr sz="8000" b="0">
                <a:solidFill>
                  <a:srgbClr val="000000"/>
                </a:solidFill>
                <a:latin typeface="Arial Black"/>
              </a:rPr>
              <a:t>60+</a:t>
            </a:r>
          </a:p>
        </p:txBody>
      </p:sp>
      <p:sp>
        <p:nvSpPr>
          <p:cNvPr id="16" name="TextBox 15"/>
          <p:cNvSpPr txBox="1"/>
          <p:nvPr/>
        </p:nvSpPr>
        <p:spPr>
          <a:xfrm>
            <a:off x="6766560" y="2395728"/>
            <a:ext cx="4572000" cy="320040"/>
          </a:xfrm>
          <a:prstGeom prst="rect">
            <a:avLst/>
          </a:prstGeom>
          <a:noFill/>
        </p:spPr>
        <p:txBody>
          <a:bodyPr wrap="square" anchor="t" lIns="0" rIns="0" tIns="0" bIns="0">
            <a:spAutoFit/>
          </a:bodyPr>
          <a:lstStyle/>
          <a:p>
            <a:pPr algn="r">
              <a:lnSpc>
                <a:spcPct val="95000"/>
              </a:lnSpc>
            </a:pPr>
            <a:r>
              <a:rPr sz="1100" b="0">
                <a:solidFill>
                  <a:srgbClr val="757575"/>
                </a:solidFill>
                <a:latin typeface="Courier New"/>
              </a:rPr>
              <a:t>PAGINA'S · 1 SJABLOON · 0 KEUZES</a:t>
            </a:r>
          </a:p>
        </p:txBody>
      </p:sp>
      <p:sp>
        <p:nvSpPr>
          <p:cNvPr id="17" name="Rectangle 16"/>
          <p:cNvSpPr/>
          <p:nvPr/>
        </p:nvSpPr>
        <p:spPr>
          <a:xfrm>
            <a:off x="6766560" y="2834640"/>
            <a:ext cx="4572000" cy="132588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3017520"/>
            <a:ext cx="4206240" cy="1097280"/>
          </a:xfrm>
          <a:prstGeom prst="rect">
            <a:avLst/>
          </a:prstGeom>
          <a:noFill/>
        </p:spPr>
        <p:txBody>
          <a:bodyPr wrap="square" anchor="t" lIns="0" rIns="0" tIns="0" bIns="0">
            <a:spAutoFit/>
          </a:bodyPr>
          <a:lstStyle/>
          <a:p>
            <a:pPr algn="l">
              <a:lnSpc>
                <a:spcPct val="105000"/>
              </a:lnSpc>
            </a:pPr>
            <a:r>
              <a:rPr sz="1600" b="1">
                <a:solidFill>
                  <a:srgbClr val="000000"/>
                </a:solidFill>
                <a:latin typeface="Arial"/>
              </a:rPr>
              <a:t>Wie nooit heeft hoeven te kiezen,</a:t>
            </a:r>
          </a:p>
          <a:p>
            <a:pPr algn="l">
              <a:lnSpc>
                <a:spcPct val="105000"/>
              </a:lnSpc>
            </a:pPr>
            <a:r>
              <a:rPr sz="1600" b="1">
                <a:solidFill>
                  <a:srgbClr val="000000"/>
                </a:solidFill>
                <a:latin typeface="Arial"/>
              </a:rPr>
              <a:t>kan niet laten zien</a:t>
            </a:r>
          </a:p>
          <a:p>
            <a:pPr algn="l">
              <a:lnSpc>
                <a:spcPct val="105000"/>
              </a:lnSpc>
            </a:pPr>
            <a:r>
              <a:rPr sz="1600" b="1">
                <a:solidFill>
                  <a:srgbClr val="000000"/>
                </a:solidFill>
                <a:latin typeface="Arial"/>
              </a:rPr>
              <a:t>dat hij </a:t>
            </a:r>
            <a:r>
              <a:rPr sz="1600" b="1">
                <a:solidFill>
                  <a:srgbClr val="E50056"/>
                </a:solidFill>
                <a:latin typeface="Arial"/>
              </a:rPr>
              <a:t>doelbewust</a:t>
            </a:r>
            <a:r>
              <a:rPr sz="1600" b="1">
                <a:solidFill>
                  <a:srgbClr val="000000"/>
                </a:solidFill>
                <a:latin typeface="Arial"/>
              </a:rPr>
              <a:t> kiest.</a:t>
            </a:r>
          </a:p>
        </p:txBody>
      </p:sp>
      <p:sp>
        <p:nvSpPr>
          <p:cNvPr id="19" name="Rectangle 18"/>
          <p:cNvSpPr/>
          <p:nvPr/>
        </p:nvSpPr>
        <p:spPr>
          <a:xfrm>
            <a:off x="822960" y="4434840"/>
            <a:ext cx="10515600"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ONE-PAGER</a:t>
            </a:r>
          </a:p>
        </p:txBody>
      </p:sp>
      <p:sp>
        <p:nvSpPr>
          <p:cNvPr id="22" name="Rectangle 21"/>
          <p:cNvSpPr/>
          <p:nvPr/>
        </p:nvSpPr>
        <p:spPr>
          <a:xfrm>
            <a:off x="2345436"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45436"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MEMO</a:t>
            </a:r>
          </a:p>
        </p:txBody>
      </p:sp>
      <p:sp>
        <p:nvSpPr>
          <p:cNvPr id="24" name="Rectangle 23"/>
          <p:cNvSpPr/>
          <p:nvPr/>
        </p:nvSpPr>
        <p:spPr>
          <a:xfrm>
            <a:off x="3867912" y="4754880"/>
            <a:ext cx="1399032" cy="658368"/>
          </a:xfrm>
          <a:prstGeom prst="rect">
            <a:avLst/>
          </a:prstGeom>
          <a:solidFill>
            <a:srgbClr val="E50056"/>
          </a:solidFill>
          <a:ln w="3175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67912" y="4974336"/>
            <a:ext cx="1399032" cy="365760"/>
          </a:xfrm>
          <a:prstGeom prst="rect">
            <a:avLst/>
          </a:prstGeom>
          <a:noFill/>
        </p:spPr>
        <p:txBody>
          <a:bodyPr wrap="square" anchor="t" lIns="0" rIns="0" tIns="0" bIns="0">
            <a:spAutoFit/>
          </a:bodyPr>
          <a:lstStyle/>
          <a:p>
            <a:pPr algn="ctr">
              <a:lnSpc>
                <a:spcPct val="95000"/>
              </a:lnSpc>
            </a:pPr>
            <a:r>
              <a:rPr sz="900" b="1">
                <a:solidFill>
                  <a:srgbClr val="FFFFFF"/>
                </a:solidFill>
                <a:latin typeface="Arial"/>
              </a:rPr>
              <a:t>INFOGRAPHIC</a:t>
            </a:r>
          </a:p>
        </p:txBody>
      </p:sp>
      <p:sp>
        <p:nvSpPr>
          <p:cNvPr id="26" name="Rectangle 25"/>
          <p:cNvSpPr/>
          <p:nvPr/>
        </p:nvSpPr>
        <p:spPr>
          <a:xfrm>
            <a:off x="5390388"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0388"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DASHBOARD</a:t>
            </a:r>
          </a:p>
        </p:txBody>
      </p:sp>
      <p:sp>
        <p:nvSpPr>
          <p:cNvPr id="28" name="Rectangle 27"/>
          <p:cNvSpPr/>
          <p:nvPr/>
        </p:nvSpPr>
        <p:spPr>
          <a:xfrm>
            <a:off x="6912864"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4"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POSITION PAPER</a:t>
            </a:r>
          </a:p>
        </p:txBody>
      </p:sp>
      <p:sp>
        <p:nvSpPr>
          <p:cNvPr id="30" name="Rectangle 29"/>
          <p:cNvSpPr/>
          <p:nvPr/>
        </p:nvSpPr>
        <p:spPr>
          <a:xfrm>
            <a:off x="8435340"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35340"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WERKSESSIE</a:t>
            </a:r>
          </a:p>
        </p:txBody>
      </p:sp>
      <p:sp>
        <p:nvSpPr>
          <p:cNvPr id="32" name="Rectangle 31"/>
          <p:cNvSpPr/>
          <p:nvPr/>
        </p:nvSpPr>
        <p:spPr>
          <a:xfrm>
            <a:off x="9957816" y="4754880"/>
            <a:ext cx="1399032" cy="658368"/>
          </a:xfrm>
          <a:prstGeom prst="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57816" y="4974336"/>
            <a:ext cx="1399032" cy="365760"/>
          </a:xfrm>
          <a:prstGeom prst="rect">
            <a:avLst/>
          </a:prstGeom>
          <a:noFill/>
        </p:spPr>
        <p:txBody>
          <a:bodyPr wrap="square" anchor="t" lIns="0" rIns="0" tIns="0" bIns="0">
            <a:spAutoFit/>
          </a:bodyPr>
          <a:lstStyle/>
          <a:p>
            <a:pPr algn="ctr">
              <a:lnSpc>
                <a:spcPct val="95000"/>
              </a:lnSpc>
            </a:pPr>
            <a:r>
              <a:rPr sz="900" b="1">
                <a:solidFill>
                  <a:srgbClr val="000000"/>
                </a:solidFill>
                <a:latin typeface="Arial"/>
              </a:rPr>
              <a:t>VIDEO</a:t>
            </a:r>
          </a:p>
        </p:txBody>
      </p:sp>
      <p:sp>
        <p:nvSpPr>
          <p:cNvPr id="34" name="TextBox 33"/>
          <p:cNvSpPr txBox="1"/>
          <p:nvPr/>
        </p:nvSpPr>
        <p:spPr>
          <a:xfrm>
            <a:off x="822960" y="5596128"/>
            <a:ext cx="10515600" cy="548640"/>
          </a:xfrm>
          <a:prstGeom prst="rect">
            <a:avLst/>
          </a:prstGeom>
          <a:noFill/>
        </p:spPr>
        <p:txBody>
          <a:bodyPr wrap="square" anchor="t" lIns="0" rIns="0" tIns="0" bIns="0">
            <a:spAutoFit/>
          </a:bodyPr>
          <a:lstStyle/>
          <a:p>
            <a:pPr algn="l">
              <a:lnSpc>
                <a:spcPct val="95000"/>
              </a:lnSpc>
            </a:pPr>
            <a:r>
              <a:rPr sz="1200" b="0">
                <a:solidFill>
                  <a:srgbClr val="757575"/>
                </a:solidFill>
                <a:latin typeface="Arial"/>
              </a:rPr>
              <a:t>Buiten de opleiding is de vorm een keuze, soms ook een lang rapport. Van studenten krijgen wij alleen dat laatste.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6172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617220"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WHY</a:t>
            </a:r>
          </a:p>
        </p:txBody>
      </p:sp>
      <p:sp>
        <p:nvSpPr>
          <p:cNvPr id="7" name="TextBox 6"/>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DE KERN</a:t>
            </a:r>
          </a:p>
        </p:txBody>
      </p:sp>
      <p:sp>
        <p:nvSpPr>
          <p:cNvPr id="8" name="Rectangle 7"/>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1" name="TextBox 10"/>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04 / 07</a:t>
            </a:r>
          </a:p>
        </p:txBody>
      </p:sp>
      <p:sp>
        <p:nvSpPr>
          <p:cNvPr id="12" name="TextBox 11"/>
          <p:cNvSpPr txBox="1"/>
          <p:nvPr/>
        </p:nvSpPr>
        <p:spPr>
          <a:xfrm>
            <a:off x="822960" y="2240280"/>
            <a:ext cx="10515600" cy="2194560"/>
          </a:xfrm>
          <a:prstGeom prst="rect">
            <a:avLst/>
          </a:prstGeom>
          <a:noFill/>
        </p:spPr>
        <p:txBody>
          <a:bodyPr wrap="square" anchor="t" lIns="0" rIns="0" tIns="0" bIns="0">
            <a:spAutoFit/>
          </a:bodyPr>
          <a:lstStyle/>
          <a:p>
            <a:pPr algn="l">
              <a:lnSpc>
                <a:spcPct val="95000"/>
              </a:lnSpc>
            </a:pPr>
            <a:r>
              <a:rPr sz="4000" b="0">
                <a:solidFill>
                  <a:srgbClr val="FFFFFF"/>
                </a:solidFill>
                <a:latin typeface="Arial Black"/>
              </a:rPr>
              <a:t>WIJ LEIDEN BEDRIJFSKUNDIGEN</a:t>
            </a:r>
          </a:p>
          <a:p>
            <a:pPr algn="l">
              <a:lnSpc>
                <a:spcPct val="95000"/>
              </a:lnSpc>
            </a:pPr>
            <a:r>
              <a:rPr sz="4000" b="0">
                <a:solidFill>
                  <a:srgbClr val="FFFFFF"/>
                </a:solidFill>
                <a:latin typeface="Arial Black"/>
              </a:rPr>
              <a:t>OP DIE IETS IN BEWEGING ZETTEN.</a:t>
            </a:r>
          </a:p>
        </p:txBody>
      </p:sp>
      <p:sp>
        <p:nvSpPr>
          <p:cNvPr id="13" name="TextBox 12"/>
          <p:cNvSpPr txBox="1"/>
          <p:nvPr/>
        </p:nvSpPr>
        <p:spPr>
          <a:xfrm>
            <a:off x="822960" y="4709160"/>
            <a:ext cx="10515600" cy="731520"/>
          </a:xfrm>
          <a:prstGeom prst="rect">
            <a:avLst/>
          </a:prstGeom>
          <a:noFill/>
        </p:spPr>
        <p:txBody>
          <a:bodyPr wrap="square" anchor="t" lIns="0" rIns="0" tIns="0" bIns="0">
            <a:spAutoFit/>
          </a:bodyPr>
          <a:lstStyle/>
          <a:p>
            <a:pPr algn="l">
              <a:lnSpc>
                <a:spcPct val="95000"/>
              </a:lnSpc>
            </a:pPr>
            <a:r>
              <a:rPr sz="2200" b="1">
                <a:solidFill>
                  <a:srgbClr val="FFFFFF"/>
                </a:solidFill>
                <a:latin typeface="Arial"/>
              </a:rPr>
              <a:t>Er komt niets in beweging door een rapport dat niemand leest.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617220"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617220"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HOW</a:t>
            </a:r>
          </a:p>
        </p:txBody>
      </p:sp>
      <p:sp>
        <p:nvSpPr>
          <p:cNvPr id="7" name="TextBox 6"/>
          <p:cNvSpPr txBox="1"/>
          <p:nvPr/>
        </p:nvSpPr>
        <p:spPr>
          <a:xfrm>
            <a:off x="2619756"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01 · LUCA DEED DIT AL</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CWZ · MEI 2026</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05 / 07</a:t>
            </a:r>
          </a:p>
        </p:txBody>
      </p:sp>
      <p:sp>
        <p:nvSpPr>
          <p:cNvPr id="13" name="TextBox 12"/>
          <p:cNvSpPr txBox="1"/>
          <p:nvPr/>
        </p:nvSpPr>
        <p:spPr>
          <a:xfrm>
            <a:off x="822960" y="1051560"/>
            <a:ext cx="10515600" cy="822960"/>
          </a:xfrm>
          <a:prstGeom prst="rect">
            <a:avLst/>
          </a:prstGeom>
          <a:noFill/>
        </p:spPr>
        <p:txBody>
          <a:bodyPr wrap="square" anchor="t" lIns="0" rIns="0" tIns="0" bIns="0">
            <a:spAutoFit/>
          </a:bodyPr>
          <a:lstStyle/>
          <a:p>
            <a:pPr algn="l">
              <a:lnSpc>
                <a:spcPct val="95000"/>
              </a:lnSpc>
            </a:pPr>
            <a:r>
              <a:rPr sz="3400" b="0">
                <a:solidFill>
                  <a:srgbClr val="E50056"/>
                </a:solidFill>
                <a:latin typeface="Arial Black"/>
              </a:rPr>
              <a:t>27 PAGINA'S</a:t>
            </a:r>
            <a:r>
              <a:rPr sz="3400" b="0">
                <a:solidFill>
                  <a:srgbClr val="000000"/>
                </a:solidFill>
                <a:latin typeface="Arial Black"/>
              </a:rPr>
              <a:t> WAREN GENOEG.</a:t>
            </a:r>
          </a:p>
        </p:txBody>
      </p:sp>
      <p:sp>
        <p:nvSpPr>
          <p:cNvPr id="14" name="TextBox 13"/>
          <p:cNvSpPr txBox="1"/>
          <p:nvPr/>
        </p:nvSpPr>
        <p:spPr>
          <a:xfrm>
            <a:off x="822960" y="1874519"/>
            <a:ext cx="10515600" cy="365760"/>
          </a:xfrm>
          <a:prstGeom prst="rect">
            <a:avLst/>
          </a:prstGeom>
          <a:noFill/>
        </p:spPr>
        <p:txBody>
          <a:bodyPr wrap="square" anchor="t" lIns="0" rIns="0" tIns="0" bIns="0">
            <a:spAutoFit/>
          </a:bodyPr>
          <a:lstStyle/>
          <a:p>
            <a:pPr algn="l">
              <a:lnSpc>
                <a:spcPct val="95000"/>
              </a:lnSpc>
            </a:pPr>
            <a:r>
              <a:rPr sz="1400" b="0">
                <a:solidFill>
                  <a:srgbClr val="454545"/>
                </a:solidFill>
                <a:latin typeface="Arial"/>
              </a:rPr>
              <a:t>Hierin stond alles wat wij nodig hadden om te beoordelen. Drie voorbeelden:</a:t>
            </a:r>
          </a:p>
        </p:txBody>
      </p:sp>
      <p:pic>
        <p:nvPicPr>
          <p:cNvPr id="15" name="Picture 14" descr="viz_inleiding.jpg"/>
          <p:cNvPicPr>
            <a:picLocks noChangeAspect="1"/>
          </p:cNvPicPr>
          <p:nvPr/>
        </p:nvPicPr>
        <p:blipFill>
          <a:blip r:embed="rId3"/>
          <a:stretch>
            <a:fillRect/>
          </a:stretch>
        </p:blipFill>
        <p:spPr>
          <a:xfrm>
            <a:off x="822960" y="2395728"/>
            <a:ext cx="3401568" cy="2407263"/>
          </a:xfrm>
          <a:prstGeom prst="rect">
            <a:avLst/>
          </a:prstGeom>
        </p:spPr>
      </p:pic>
      <p:sp>
        <p:nvSpPr>
          <p:cNvPr id="16" name="Rectangle 15"/>
          <p:cNvSpPr/>
          <p:nvPr/>
        </p:nvSpPr>
        <p:spPr>
          <a:xfrm>
            <a:off x="822960" y="2395728"/>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956048"/>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INLEIDING</a:t>
            </a:r>
          </a:p>
        </p:txBody>
      </p:sp>
      <p:sp>
        <p:nvSpPr>
          <p:cNvPr id="18" name="TextBox 17"/>
          <p:cNvSpPr txBox="1"/>
          <p:nvPr/>
        </p:nvSpPr>
        <p:spPr>
          <a:xfrm>
            <a:off x="822960" y="5285232"/>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De opzet van het onderzoek staat in </a:t>
            </a:r>
            <a:r>
              <a:rPr sz="1200" b="1">
                <a:solidFill>
                  <a:srgbClr val="000000"/>
                </a:solidFill>
                <a:latin typeface="Arial"/>
              </a:rPr>
              <a:t>één beeld</a:t>
            </a:r>
            <a:r>
              <a:rPr sz="1200" b="0">
                <a:solidFill>
                  <a:srgbClr val="000000"/>
                </a:solidFill>
                <a:latin typeface="Arial"/>
              </a:rPr>
              <a:t>. De lezer weet binnen tien seconden waar hij is.</a:t>
            </a:r>
          </a:p>
        </p:txBody>
      </p:sp>
      <p:pic>
        <p:nvPicPr>
          <p:cNvPr id="19" name="Picture 18" descr="viz_resultaten.jpg"/>
          <p:cNvPicPr>
            <a:picLocks noChangeAspect="1"/>
          </p:cNvPicPr>
          <p:nvPr/>
        </p:nvPicPr>
        <p:blipFill>
          <a:blip r:embed="rId4"/>
          <a:stretch>
            <a:fillRect/>
          </a:stretch>
        </p:blipFill>
        <p:spPr>
          <a:xfrm>
            <a:off x="4352544" y="2395728"/>
            <a:ext cx="3401568" cy="2407263"/>
          </a:xfrm>
          <a:prstGeom prst="rect">
            <a:avLst/>
          </a:prstGeom>
        </p:spPr>
      </p:pic>
      <p:sp>
        <p:nvSpPr>
          <p:cNvPr id="20" name="Rectangle 19"/>
          <p:cNvSpPr/>
          <p:nvPr/>
        </p:nvSpPr>
        <p:spPr>
          <a:xfrm>
            <a:off x="4352544" y="2395728"/>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2544" y="4956048"/>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RESULTATEN</a:t>
            </a:r>
          </a:p>
        </p:txBody>
      </p:sp>
      <p:sp>
        <p:nvSpPr>
          <p:cNvPr id="22" name="TextBox 21"/>
          <p:cNvSpPr txBox="1"/>
          <p:nvPr/>
        </p:nvSpPr>
        <p:spPr>
          <a:xfrm>
            <a:off x="4352544" y="5285232"/>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Positief, aandachtspunt en kritiek punt </a:t>
            </a:r>
            <a:r>
              <a:rPr sz="1200" b="1">
                <a:solidFill>
                  <a:srgbClr val="000000"/>
                </a:solidFill>
                <a:latin typeface="Arial"/>
              </a:rPr>
              <a:t>naast elkaar</a:t>
            </a:r>
            <a:r>
              <a:rPr sz="1200" b="0">
                <a:solidFill>
                  <a:srgbClr val="000000"/>
                </a:solidFill>
                <a:latin typeface="Arial"/>
              </a:rPr>
              <a:t>, met scores. Vergelijken kost geen alinea's.</a:t>
            </a:r>
          </a:p>
        </p:txBody>
      </p:sp>
      <p:pic>
        <p:nvPicPr>
          <p:cNvPr id="23" name="Picture 22" descr="viz_advies.jpg"/>
          <p:cNvPicPr>
            <a:picLocks noChangeAspect="1"/>
          </p:cNvPicPr>
          <p:nvPr/>
        </p:nvPicPr>
        <p:blipFill>
          <a:blip r:embed="rId5"/>
          <a:stretch>
            <a:fillRect/>
          </a:stretch>
        </p:blipFill>
        <p:spPr>
          <a:xfrm>
            <a:off x="7882127" y="2395728"/>
            <a:ext cx="3401568" cy="2407263"/>
          </a:xfrm>
          <a:prstGeom prst="rect">
            <a:avLst/>
          </a:prstGeom>
        </p:spPr>
      </p:pic>
      <p:sp>
        <p:nvSpPr>
          <p:cNvPr id="24" name="Rectangle 23"/>
          <p:cNvSpPr/>
          <p:nvPr/>
        </p:nvSpPr>
        <p:spPr>
          <a:xfrm>
            <a:off x="7882127" y="2395728"/>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82127" y="4956048"/>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ADVIES</a:t>
            </a:r>
          </a:p>
        </p:txBody>
      </p:sp>
      <p:sp>
        <p:nvSpPr>
          <p:cNvPr id="26" name="TextBox 25"/>
          <p:cNvSpPr txBox="1"/>
          <p:nvPr/>
        </p:nvSpPr>
        <p:spPr>
          <a:xfrm>
            <a:off x="7882127" y="5285232"/>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Scenario's, kosten en risico's op één plaat. </a:t>
            </a:r>
            <a:r>
              <a:rPr sz="1200" b="1">
                <a:solidFill>
                  <a:srgbClr val="000000"/>
                </a:solidFill>
                <a:latin typeface="Arial"/>
              </a:rPr>
              <a:t>Direct bespreekbaar</a:t>
            </a:r>
            <a:r>
              <a:rPr sz="1200" b="0">
                <a:solidFill>
                  <a:srgbClr val="000000"/>
                </a:solidFill>
                <a:latin typeface="Arial"/>
              </a:rPr>
              <a:t> in een MT.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617220"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617220"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HOW</a:t>
            </a:r>
          </a:p>
        </p:txBody>
      </p:sp>
      <p:sp>
        <p:nvSpPr>
          <p:cNvPr id="7" name="TextBox 6"/>
          <p:cNvSpPr txBox="1"/>
          <p:nvPr/>
        </p:nvSpPr>
        <p:spPr>
          <a:xfrm>
            <a:off x="2619756"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02 · DE OPBRENGST</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TERUG NAAR CRITERIUM 6</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06 / 07</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WAARDE VOOR</a:t>
            </a:r>
          </a:p>
          <a:p>
            <a:pPr algn="l">
              <a:lnSpc>
                <a:spcPct val="95000"/>
              </a:lnSpc>
            </a:pPr>
            <a:r>
              <a:rPr sz="3400" b="0">
                <a:solidFill>
                  <a:srgbClr val="000000"/>
                </a:solidFill>
                <a:latin typeface="Arial Black"/>
              </a:rPr>
              <a:t>DE ORGANISATIE.</a:t>
            </a:r>
          </a:p>
        </p:txBody>
      </p:sp>
      <p:pic>
        <p:nvPicPr>
          <p:cNvPr id="14" name="Picture 13" descr="viz_waardemodel.jpg"/>
          <p:cNvPicPr>
            <a:picLocks noChangeAspect="1"/>
          </p:cNvPicPr>
          <p:nvPr/>
        </p:nvPicPr>
        <p:blipFill>
          <a:blip r:embed="rId3"/>
          <a:stretch>
            <a:fillRect/>
          </a:stretch>
        </p:blipFill>
        <p:spPr>
          <a:xfrm>
            <a:off x="822960" y="2286000"/>
            <a:ext cx="4297680" cy="3041435"/>
          </a:xfrm>
          <a:prstGeom prst="rect">
            <a:avLst/>
          </a:prstGeom>
        </p:spPr>
      </p:pic>
      <p:sp>
        <p:nvSpPr>
          <p:cNvPr id="15" name="Rectangle 14"/>
          <p:cNvSpPr/>
          <p:nvPr/>
        </p:nvSpPr>
        <p:spPr>
          <a:xfrm>
            <a:off x="822960" y="2286000"/>
            <a:ext cx="4297680" cy="3041435"/>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413248"/>
            <a:ext cx="4297680" cy="274320"/>
          </a:xfrm>
          <a:prstGeom prst="rect">
            <a:avLst/>
          </a:prstGeom>
          <a:noFill/>
        </p:spPr>
        <p:txBody>
          <a:bodyPr wrap="square" anchor="t" lIns="0" rIns="0" tIns="0" bIns="0">
            <a:spAutoFit/>
          </a:bodyPr>
          <a:lstStyle/>
          <a:p>
            <a:pPr algn="l">
              <a:lnSpc>
                <a:spcPct val="95000"/>
              </a:lnSpc>
            </a:pPr>
            <a:r>
              <a:rPr sz="1000" b="1">
                <a:solidFill>
                  <a:srgbClr val="E50056"/>
                </a:solidFill>
                <a:latin typeface="Courier New"/>
              </a:rPr>
              <a:t>ZORGTECHNOLOGIE-WAARDE MODEL</a:t>
            </a:r>
          </a:p>
        </p:txBody>
      </p:sp>
      <p:sp>
        <p:nvSpPr>
          <p:cNvPr id="17" name="TextBox 16"/>
          <p:cNvSpPr txBox="1"/>
          <p:nvPr/>
        </p:nvSpPr>
        <p:spPr>
          <a:xfrm>
            <a:off x="5577840" y="2377440"/>
            <a:ext cx="5788152" cy="2011680"/>
          </a:xfrm>
          <a:prstGeom prst="rect">
            <a:avLst/>
          </a:prstGeom>
          <a:noFill/>
        </p:spPr>
        <p:txBody>
          <a:bodyPr wrap="square" anchor="t" lIns="0" rIns="0" tIns="0" bIns="0">
            <a:spAutoFit/>
          </a:bodyPr>
          <a:lstStyle/>
          <a:p>
            <a:pPr algn="l">
              <a:lnSpc>
                <a:spcPct val="120000"/>
              </a:lnSpc>
            </a:pPr>
            <a:r>
              <a:rPr sz="1400" b="0">
                <a:solidFill>
                  <a:srgbClr val="000000"/>
                </a:solidFill>
                <a:latin typeface="Arial"/>
              </a:rPr>
              <a:t>Geen rapport maar een </a:t>
            </a:r>
            <a:r>
              <a:rPr sz="1400" b="1">
                <a:solidFill>
                  <a:srgbClr val="000000"/>
                </a:solidFill>
                <a:latin typeface="Arial"/>
              </a:rPr>
              <a:t>instrument</a:t>
            </a:r>
            <a:r>
              <a:rPr sz="1400" b="0">
                <a:solidFill>
                  <a:srgbClr val="000000"/>
                </a:solidFill>
                <a:latin typeface="Arial"/>
              </a:rPr>
              <a:t>: 19 criteria, verdeeld over knock-outs en gewogen factoren, met een expliciet </a:t>
            </a:r>
            <a:r>
              <a:rPr sz="1400" b="0">
                <a:solidFill>
                  <a:srgbClr val="E50056"/>
                </a:solidFill>
                <a:latin typeface="Arial"/>
              </a:rPr>
              <a:t>go of no-go</a:t>
            </a:r>
            <a:r>
              <a:rPr sz="1400" b="0">
                <a:solidFill>
                  <a:srgbClr val="000000"/>
                </a:solidFill>
                <a:latin typeface="Arial"/>
              </a:rPr>
              <a:t> moment.</a:t>
            </a:r>
          </a:p>
          <a:p>
            <a:pPr algn="l">
              <a:lnSpc>
                <a:spcPct val="120000"/>
              </a:lnSpc>
            </a:pPr>
            <a:r>
              <a:rPr sz="1400" b="0">
                <a:solidFill>
                  <a:srgbClr val="000000"/>
                </a:solidFill>
                <a:latin typeface="Arial"/>
              </a:rPr>
              <a:t> </a:t>
            </a:r>
          </a:p>
          <a:p>
            <a:pPr algn="l">
              <a:lnSpc>
                <a:spcPct val="120000"/>
              </a:lnSpc>
            </a:pPr>
            <a:r>
              <a:rPr sz="1400" b="0">
                <a:solidFill>
                  <a:srgbClr val="000000"/>
                </a:solidFill>
                <a:latin typeface="Arial"/>
              </a:rPr>
              <a:t>Het ziekenhuis legt elke volgende investering langs dezelfde meetlat. </a:t>
            </a:r>
            <a:r>
              <a:rPr sz="1400" b="1">
                <a:solidFill>
                  <a:srgbClr val="000000"/>
                </a:solidFill>
                <a:latin typeface="Arial"/>
              </a:rPr>
              <a:t>De opbrengst overleeft de afstudeerperiode.</a:t>
            </a:r>
          </a:p>
        </p:txBody>
      </p:sp>
      <p:sp>
        <p:nvSpPr>
          <p:cNvPr id="18" name="Rectangle 17"/>
          <p:cNvSpPr/>
          <p:nvPr/>
        </p:nvSpPr>
        <p:spPr>
          <a:xfrm>
            <a:off x="5577840" y="4526280"/>
            <a:ext cx="5788152"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77840" y="4754880"/>
            <a:ext cx="5788152" cy="914400"/>
          </a:xfrm>
          <a:prstGeom prst="rect">
            <a:avLst/>
          </a:prstGeom>
          <a:solidFill>
            <a:srgbClr val="F8E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42432" y="4873752"/>
            <a:ext cx="5458968" cy="822960"/>
          </a:xfrm>
          <a:prstGeom prst="rect">
            <a:avLst/>
          </a:prstGeom>
          <a:noFill/>
        </p:spPr>
        <p:txBody>
          <a:bodyPr wrap="square" anchor="t" lIns="0" rIns="0" tIns="0" bIns="0">
            <a:spAutoFit/>
          </a:bodyPr>
          <a:lstStyle/>
          <a:p>
            <a:pPr algn="l">
              <a:lnSpc>
                <a:spcPct val="115000"/>
              </a:lnSpc>
            </a:pPr>
            <a:r>
              <a:rPr sz="1300" b="0">
                <a:solidFill>
                  <a:srgbClr val="000000"/>
                </a:solidFill>
                <a:latin typeface="Arial"/>
              </a:rPr>
              <a:t>Criterium 6, score 3: </a:t>
            </a:r>
            <a:r>
              <a:rPr sz="1300" b="1">
                <a:solidFill>
                  <a:srgbClr val="000000"/>
                </a:solidFill>
                <a:latin typeface="Arial"/>
              </a:rPr>
              <a:t>nieuwe perspectieven op langere termijn voor de organisatie en de sector.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WHAT</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DE UITNODIGING</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KOMEND SEMESTER</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07 / 07</a:t>
            </a:r>
          </a:p>
        </p:txBody>
      </p:sp>
      <p:sp>
        <p:nvSpPr>
          <p:cNvPr id="13" name="TextBox 12"/>
          <p:cNvSpPr txBox="1"/>
          <p:nvPr/>
        </p:nvSpPr>
        <p:spPr>
          <a:xfrm>
            <a:off x="822960" y="1097280"/>
            <a:ext cx="10515600" cy="118872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WIJ BEGINNEN.</a:t>
            </a:r>
          </a:p>
          <a:p>
            <a:pPr algn="l">
              <a:lnSpc>
                <a:spcPct val="95000"/>
              </a:lnSpc>
            </a:pPr>
            <a:r>
              <a:rPr sz="3400" b="0">
                <a:solidFill>
                  <a:srgbClr val="E50056"/>
                </a:solidFill>
                <a:latin typeface="Arial Black"/>
              </a:rPr>
              <a:t>KIJK MEE.</a:t>
            </a:r>
          </a:p>
        </p:txBody>
      </p:sp>
      <p:sp>
        <p:nvSpPr>
          <p:cNvPr id="14" name="Rectangle 13"/>
          <p:cNvSpPr/>
          <p:nvPr/>
        </p:nvSpPr>
        <p:spPr>
          <a:xfrm>
            <a:off x="822960" y="2743200"/>
            <a:ext cx="4937760" cy="246888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2962656"/>
            <a:ext cx="4480560" cy="274320"/>
          </a:xfrm>
          <a:prstGeom prst="rect">
            <a:avLst/>
          </a:prstGeom>
          <a:noFill/>
        </p:spPr>
        <p:txBody>
          <a:bodyPr wrap="square" anchor="t" lIns="0" rIns="0" tIns="0" bIns="0">
            <a:spAutoFit/>
          </a:bodyPr>
          <a:lstStyle/>
          <a:p>
            <a:pPr algn="l">
              <a:lnSpc>
                <a:spcPct val="95000"/>
              </a:lnSpc>
            </a:pPr>
            <a:r>
              <a:rPr sz="1200" b="1">
                <a:solidFill>
                  <a:srgbClr val="000000"/>
                </a:solidFill>
                <a:latin typeface="Arial"/>
              </a:rPr>
              <a:t>WAT WIJ DOEN</a:t>
            </a:r>
          </a:p>
        </p:txBody>
      </p:sp>
      <p:sp>
        <p:nvSpPr>
          <p:cNvPr id="16" name="Rectangle 15"/>
          <p:cNvSpPr/>
          <p:nvPr/>
        </p:nvSpPr>
        <p:spPr>
          <a:xfrm>
            <a:off x="1078992" y="358444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89888" y="345643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Wij </a:t>
            </a:r>
            <a:r>
              <a:rPr sz="1300" b="1">
                <a:solidFill>
                  <a:srgbClr val="000000"/>
                </a:solidFill>
                <a:latin typeface="Arial"/>
              </a:rPr>
              <a:t>vragen de vormkeuze op</a:t>
            </a:r>
            <a:r>
              <a:rPr sz="1300" b="0">
                <a:solidFill>
                  <a:srgbClr val="000000"/>
                </a:solidFill>
                <a:latin typeface="Arial"/>
              </a:rPr>
              <a:t> in het plan van aanpak.</a:t>
            </a:r>
          </a:p>
        </p:txBody>
      </p:sp>
      <p:sp>
        <p:nvSpPr>
          <p:cNvPr id="18" name="Rectangle 17"/>
          <p:cNvSpPr/>
          <p:nvPr/>
        </p:nvSpPr>
        <p:spPr>
          <a:xfrm>
            <a:off x="1078992" y="408736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89888" y="395935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Wij zeggen erbij dat </a:t>
            </a:r>
            <a:r>
              <a:rPr sz="1300" b="1">
                <a:solidFill>
                  <a:srgbClr val="000000"/>
                </a:solidFill>
                <a:latin typeface="Arial"/>
              </a:rPr>
              <a:t>één product volstaat</a:t>
            </a:r>
            <a:r>
              <a:rPr sz="1300" b="0">
                <a:solidFill>
                  <a:srgbClr val="000000"/>
                </a:solidFill>
                <a:latin typeface="Arial"/>
              </a:rPr>
              <a:t>, mits de herkomst zichtbaar is.</a:t>
            </a:r>
          </a:p>
        </p:txBody>
      </p:sp>
      <p:sp>
        <p:nvSpPr>
          <p:cNvPr id="20" name="Rectangle 19"/>
          <p:cNvSpPr/>
          <p:nvPr/>
        </p:nvSpPr>
        <p:spPr>
          <a:xfrm>
            <a:off x="1078992" y="459028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9888" y="446227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Wij laten de student de vorm </a:t>
            </a:r>
            <a:r>
              <a:rPr sz="1300" b="1">
                <a:solidFill>
                  <a:srgbClr val="000000"/>
                </a:solidFill>
                <a:latin typeface="Arial"/>
              </a:rPr>
              <a:t>toetsen bij de opdrachtgever</a:t>
            </a:r>
            <a:r>
              <a:rPr sz="1300" b="0">
                <a:solidFill>
                  <a:srgbClr val="000000"/>
                </a:solidFill>
                <a:latin typeface="Arial"/>
              </a:rPr>
              <a:t>.</a:t>
            </a:r>
          </a:p>
        </p:txBody>
      </p:sp>
      <p:sp>
        <p:nvSpPr>
          <p:cNvPr id="22" name="Rectangle 21"/>
          <p:cNvSpPr/>
          <p:nvPr/>
        </p:nvSpPr>
        <p:spPr>
          <a:xfrm>
            <a:off x="6446520" y="2743200"/>
            <a:ext cx="4937760" cy="246888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962656"/>
            <a:ext cx="4480560" cy="274320"/>
          </a:xfrm>
          <a:prstGeom prst="rect">
            <a:avLst/>
          </a:prstGeom>
          <a:noFill/>
        </p:spPr>
        <p:txBody>
          <a:bodyPr wrap="square" anchor="t" lIns="0" rIns="0" tIns="0" bIns="0">
            <a:spAutoFit/>
          </a:bodyPr>
          <a:lstStyle/>
          <a:p>
            <a:pPr algn="l">
              <a:lnSpc>
                <a:spcPct val="95000"/>
              </a:lnSpc>
            </a:pPr>
            <a:r>
              <a:rPr sz="1200" b="1">
                <a:solidFill>
                  <a:srgbClr val="E50056"/>
                </a:solidFill>
                <a:latin typeface="Arial"/>
              </a:rPr>
              <a:t>WAT WIJ JULLIE VRAGEN</a:t>
            </a:r>
          </a:p>
        </p:txBody>
      </p:sp>
      <p:sp>
        <p:nvSpPr>
          <p:cNvPr id="24" name="Rectangle 23"/>
          <p:cNvSpPr/>
          <p:nvPr/>
        </p:nvSpPr>
        <p:spPr>
          <a:xfrm>
            <a:off x="6702552" y="358444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3448" y="345643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
            </a:r>
            <a:r>
              <a:rPr sz="1300" b="1">
                <a:solidFill>
                  <a:srgbClr val="000000"/>
                </a:solidFill>
                <a:latin typeface="Arial"/>
              </a:rPr>
              <a:t>Kijk mee</a:t>
            </a:r>
            <a:r>
              <a:rPr sz="1300" b="0">
                <a:solidFill>
                  <a:srgbClr val="000000"/>
                </a:solidFill>
                <a:latin typeface="Arial"/>
              </a:rPr>
              <a:t> bij een PvA.</a:t>
            </a:r>
          </a:p>
        </p:txBody>
      </p:sp>
      <p:sp>
        <p:nvSpPr>
          <p:cNvPr id="26" name="Rectangle 25"/>
          <p:cNvSpPr/>
          <p:nvPr/>
        </p:nvSpPr>
        <p:spPr>
          <a:xfrm>
            <a:off x="6702552" y="408736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395935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
            </a:r>
            <a:r>
              <a:rPr sz="1300" b="1">
                <a:solidFill>
                  <a:srgbClr val="000000"/>
                </a:solidFill>
                <a:latin typeface="Arial"/>
              </a:rPr>
              <a:t>Denk mee</a:t>
            </a:r>
            <a:r>
              <a:rPr sz="1300" b="0">
                <a:solidFill>
                  <a:srgbClr val="000000"/>
                </a:solidFill>
                <a:latin typeface="Arial"/>
              </a:rPr>
              <a:t> over wat wel en niet werkt.</a:t>
            </a:r>
          </a:p>
        </p:txBody>
      </p:sp>
      <p:sp>
        <p:nvSpPr>
          <p:cNvPr id="28" name="Rectangle 27"/>
          <p:cNvSpPr/>
          <p:nvPr/>
        </p:nvSpPr>
        <p:spPr>
          <a:xfrm>
            <a:off x="6702552" y="459028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13448" y="4462272"/>
            <a:ext cx="4206240" cy="457200"/>
          </a:xfrm>
          <a:prstGeom prst="rect">
            <a:avLst/>
          </a:prstGeom>
          <a:noFill/>
        </p:spPr>
        <p:txBody>
          <a:bodyPr wrap="square" anchor="t" lIns="0" rIns="0" tIns="0" bIns="0">
            <a:spAutoFit/>
          </a:bodyPr>
          <a:lstStyle/>
          <a:p>
            <a:pPr algn="l">
              <a:lnSpc>
                <a:spcPct val="110000"/>
              </a:lnSpc>
            </a:pPr>
            <a:r>
              <a:rPr sz="1300" b="0">
                <a:solidFill>
                  <a:srgbClr val="000000"/>
                </a:solidFill>
                <a:latin typeface="Arial"/>
              </a:rPr>
              <a:t/>
            </a:r>
            <a:r>
              <a:rPr sz="1300" b="1">
                <a:solidFill>
                  <a:srgbClr val="000000"/>
                </a:solidFill>
                <a:latin typeface="Arial"/>
              </a:rPr>
              <a:t>Probeer het</a:t>
            </a:r>
            <a:r>
              <a:rPr sz="1300" b="0">
                <a:solidFill>
                  <a:srgbClr val="000000"/>
                </a:solidFill>
                <a:latin typeface="Arial"/>
              </a:rPr>
              <a:t> bij je eigen studenten en deel wat je opvalt.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